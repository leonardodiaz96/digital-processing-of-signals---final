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317" r:id="rId19"/>
    <p:sldId id="319" r:id="rId20"/>
    <p:sldId id="318" r:id="rId21"/>
    <p:sldId id="273" r:id="rId22"/>
    <p:sldId id="274" r:id="rId23"/>
    <p:sldId id="275" r:id="rId24"/>
    <p:sldId id="276" r:id="rId25"/>
    <p:sldId id="277" r:id="rId26"/>
    <p:sldId id="278" r:id="rId27"/>
    <p:sldId id="280" r:id="rId28"/>
    <p:sldId id="320" r:id="rId29"/>
    <p:sldId id="322" r:id="rId30"/>
    <p:sldId id="323" r:id="rId31"/>
    <p:sldId id="324" r:id="rId32"/>
    <p:sldId id="282" r:id="rId33"/>
    <p:sldId id="283" r:id="rId34"/>
    <p:sldId id="285" r:id="rId35"/>
    <p:sldId id="284" r:id="rId36"/>
    <p:sldId id="286" r:id="rId37"/>
    <p:sldId id="287" r:id="rId38"/>
    <p:sldId id="288" r:id="rId39"/>
    <p:sldId id="289" r:id="rId40"/>
    <p:sldId id="290" r:id="rId41"/>
    <p:sldId id="291" r:id="rId42"/>
    <p:sldId id="292" r:id="rId43"/>
    <p:sldId id="293" r:id="rId44"/>
    <p:sldId id="294" r:id="rId45"/>
    <p:sldId id="295" r:id="rId46"/>
    <p:sldId id="296" r:id="rId47"/>
    <p:sldId id="301" r:id="rId48"/>
    <p:sldId id="302" r:id="rId49"/>
    <p:sldId id="303" r:id="rId50"/>
    <p:sldId id="304" r:id="rId51"/>
    <p:sldId id="311" r:id="rId52"/>
    <p:sldId id="305" r:id="rId53"/>
    <p:sldId id="306" r:id="rId54"/>
    <p:sldId id="307" r:id="rId55"/>
    <p:sldId id="312" r:id="rId56"/>
    <p:sldId id="308" r:id="rId57"/>
    <p:sldId id="309" r:id="rId58"/>
    <p:sldId id="310" r:id="rId59"/>
    <p:sldId id="313" r:id="rId60"/>
    <p:sldId id="325" r:id="rId61"/>
    <p:sldId id="326" r:id="rId62"/>
    <p:sldId id="314" r:id="rId63"/>
    <p:sldId id="327" r:id="rId64"/>
    <p:sldId id="328" r:id="rId65"/>
    <p:sldId id="329" r:id="rId66"/>
    <p:sldId id="333" r:id="rId67"/>
    <p:sldId id="334" r:id="rId68"/>
    <p:sldId id="335" r:id="rId69"/>
    <p:sldId id="315" r:id="rId70"/>
    <p:sldId id="316" r:id="rId71"/>
  </p:sldIdLst>
  <p:sldSz cx="9144000" cy="6858000" type="screen4x3"/>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66" d="100"/>
          <a:sy n="66" d="100"/>
        </p:scale>
        <p:origin x="-1506" y="-15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8" name="7 Título"/>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es-ES" smtClean="0"/>
              <a:t>Haga clic para modificar el estilo de título del patrón</a:t>
            </a:r>
            <a:endParaRPr kumimoji="0" lang="en-US"/>
          </a:p>
        </p:txBody>
      </p:sp>
      <p:sp>
        <p:nvSpPr>
          <p:cNvPr id="9" name="8 Subtítulo"/>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s-ES" smtClean="0"/>
              <a:t>Haga clic para modificar el estilo de subtítulo del patrón</a:t>
            </a:r>
            <a:endParaRPr kumimoji="0" lang="en-US"/>
          </a:p>
        </p:txBody>
      </p:sp>
      <p:sp>
        <p:nvSpPr>
          <p:cNvPr id="28" name="27 Marcador de fecha"/>
          <p:cNvSpPr>
            <a:spLocks noGrp="1"/>
          </p:cNvSpPr>
          <p:nvPr>
            <p:ph type="dt" sz="half" idx="10"/>
          </p:nvPr>
        </p:nvSpPr>
        <p:spPr>
          <a:xfrm>
            <a:off x="6400800" y="6355080"/>
            <a:ext cx="2286000" cy="365760"/>
          </a:xfrm>
        </p:spPr>
        <p:txBody>
          <a:bodyPr/>
          <a:lstStyle>
            <a:lvl1pPr>
              <a:defRPr sz="1400"/>
            </a:lvl1pPr>
          </a:lstStyle>
          <a:p>
            <a:fld id="{AB086767-D7B2-4E81-BBD1-28F91D9C5BE7}" type="datetimeFigureOut">
              <a:rPr lang="es-ES" smtClean="0"/>
              <a:t>23/04/2023</a:t>
            </a:fld>
            <a:endParaRPr lang="es-ES"/>
          </a:p>
        </p:txBody>
      </p:sp>
      <p:sp>
        <p:nvSpPr>
          <p:cNvPr id="17" name="16 Marcador de pie de página"/>
          <p:cNvSpPr>
            <a:spLocks noGrp="1"/>
          </p:cNvSpPr>
          <p:nvPr>
            <p:ph type="ftr" sz="quarter" idx="11"/>
          </p:nvPr>
        </p:nvSpPr>
        <p:spPr>
          <a:xfrm>
            <a:off x="2898648" y="6355080"/>
            <a:ext cx="3474720" cy="365760"/>
          </a:xfrm>
        </p:spPr>
        <p:txBody>
          <a:bodyPr/>
          <a:lstStyle/>
          <a:p>
            <a:endParaRPr lang="es-ES"/>
          </a:p>
        </p:txBody>
      </p:sp>
      <p:sp>
        <p:nvSpPr>
          <p:cNvPr id="29" name="28 Marcador de número de diapositiva"/>
          <p:cNvSpPr>
            <a:spLocks noGrp="1"/>
          </p:cNvSpPr>
          <p:nvPr>
            <p:ph type="sldNum" sz="quarter" idx="12"/>
          </p:nvPr>
        </p:nvSpPr>
        <p:spPr>
          <a:xfrm>
            <a:off x="1216152" y="6355080"/>
            <a:ext cx="1219200" cy="365760"/>
          </a:xfrm>
        </p:spPr>
        <p:txBody>
          <a:bodyPr/>
          <a:lstStyle/>
          <a:p>
            <a:fld id="{2A2DD96C-6E0D-47DD-9BE4-A95B38B45D0E}" type="slidenum">
              <a:rPr lang="es-ES" smtClean="0"/>
              <a:t>‹Nº›</a:t>
            </a:fld>
            <a:endParaRPr lang="es-ES"/>
          </a:p>
        </p:txBody>
      </p:sp>
      <p:sp>
        <p:nvSpPr>
          <p:cNvPr id="21" name="20 Rectángulo"/>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3" name="32 Rectángulo"/>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2" name="21 Rectángulo"/>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31 Rectángulo"/>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smtClean="0"/>
              <a:t>Haga clic para modificar el estilo de título del patrón</a:t>
            </a:r>
            <a:endParaRPr kumimoji="0" lang="en-US"/>
          </a:p>
        </p:txBody>
      </p:sp>
      <p:sp>
        <p:nvSpPr>
          <p:cNvPr id="4" name="3 Marcador de fecha"/>
          <p:cNvSpPr>
            <a:spLocks noGrp="1"/>
          </p:cNvSpPr>
          <p:nvPr>
            <p:ph type="dt" sz="half" idx="10"/>
          </p:nvPr>
        </p:nvSpPr>
        <p:spPr/>
        <p:txBody>
          <a:bodyPr/>
          <a:lstStyle/>
          <a:p>
            <a:fld id="{AB086767-D7B2-4E81-BBD1-28F91D9C5BE7}" type="datetimeFigureOut">
              <a:rPr lang="es-ES" smtClean="0"/>
              <a:t>23/04/2023</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2A2DD96C-6E0D-47DD-9BE4-A95B38B45D0E}" type="slidenum">
              <a:rPr lang="es-ES" smtClean="0"/>
              <a:t>‹Nº›</a:t>
            </a:fld>
            <a:endParaRPr lang="es-ES"/>
          </a:p>
        </p:txBody>
      </p:sp>
      <p:sp>
        <p:nvSpPr>
          <p:cNvPr id="8" name="7 Marcador de contenido"/>
          <p:cNvSpPr>
            <a:spLocks noGrp="1"/>
          </p:cNvSpPr>
          <p:nvPr>
            <p:ph sz="quarter" idx="1"/>
          </p:nvPr>
        </p:nvSpPr>
        <p:spPr>
          <a:xfrm>
            <a:off x="457200" y="1219200"/>
            <a:ext cx="8229600" cy="4937760"/>
          </a:xfrm>
        </p:spPr>
        <p:txBody>
          <a:body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bg>
      <p:bgRef idx="1001">
        <a:schemeClr val="bg2"/>
      </p:bgRef>
    </p:bg>
    <p:spTree>
      <p:nvGrpSpPr>
        <p:cNvPr id="1" name=""/>
        <p:cNvGrpSpPr/>
        <p:nvPr/>
      </p:nvGrpSpPr>
      <p:grpSpPr>
        <a:xfrm>
          <a:off x="0" y="0"/>
          <a:ext cx="0" cy="0"/>
          <a:chOff x="0" y="0"/>
          <a:chExt cx="0" cy="0"/>
        </a:xfrm>
      </p:grpSpPr>
      <p:sp>
        <p:nvSpPr>
          <p:cNvPr id="2" name="1 Título"/>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es-ES" smtClean="0"/>
              <a:t>Haga clic para modificar el estilo de título del patrón</a:t>
            </a:r>
            <a:endParaRPr kumimoji="0" lang="en-US"/>
          </a:p>
        </p:txBody>
      </p:sp>
      <p:sp>
        <p:nvSpPr>
          <p:cNvPr id="3" name="2 Marcador de texto"/>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s-ES" smtClean="0"/>
              <a:t>Haga clic para modificar el estilo de texto del patrón</a:t>
            </a:r>
          </a:p>
        </p:txBody>
      </p:sp>
      <p:sp>
        <p:nvSpPr>
          <p:cNvPr id="4" name="3 Marcador de fecha"/>
          <p:cNvSpPr>
            <a:spLocks noGrp="1"/>
          </p:cNvSpPr>
          <p:nvPr>
            <p:ph type="dt" sz="half" idx="10"/>
          </p:nvPr>
        </p:nvSpPr>
        <p:spPr>
          <a:xfrm>
            <a:off x="6400800" y="6355080"/>
            <a:ext cx="2286000" cy="365760"/>
          </a:xfrm>
        </p:spPr>
        <p:txBody>
          <a:bodyPr/>
          <a:lstStyle/>
          <a:p>
            <a:fld id="{AB086767-D7B2-4E81-BBD1-28F91D9C5BE7}" type="datetimeFigureOut">
              <a:rPr lang="es-ES" smtClean="0"/>
              <a:t>23/04/2023</a:t>
            </a:fld>
            <a:endParaRPr lang="es-ES"/>
          </a:p>
        </p:txBody>
      </p:sp>
      <p:sp>
        <p:nvSpPr>
          <p:cNvPr id="5" name="4 Marcador de pie de página"/>
          <p:cNvSpPr>
            <a:spLocks noGrp="1"/>
          </p:cNvSpPr>
          <p:nvPr>
            <p:ph type="ftr" sz="quarter" idx="11"/>
          </p:nvPr>
        </p:nvSpPr>
        <p:spPr>
          <a:xfrm>
            <a:off x="2898648" y="6355080"/>
            <a:ext cx="3474720" cy="365760"/>
          </a:xfrm>
        </p:spPr>
        <p:txBody>
          <a:bodyPr/>
          <a:lstStyle/>
          <a:p>
            <a:endParaRPr lang="es-ES"/>
          </a:p>
        </p:txBody>
      </p:sp>
      <p:sp>
        <p:nvSpPr>
          <p:cNvPr id="6" name="5 Marcador de número de diapositiva"/>
          <p:cNvSpPr>
            <a:spLocks noGrp="1"/>
          </p:cNvSpPr>
          <p:nvPr>
            <p:ph type="sldNum" sz="quarter" idx="12"/>
          </p:nvPr>
        </p:nvSpPr>
        <p:spPr>
          <a:xfrm>
            <a:off x="1069848" y="6355080"/>
            <a:ext cx="1520952" cy="365760"/>
          </a:xfrm>
        </p:spPr>
        <p:txBody>
          <a:bodyPr/>
          <a:lstStyle/>
          <a:p>
            <a:fld id="{2A2DD96C-6E0D-47DD-9BE4-A95B38B45D0E}" type="slidenum">
              <a:rPr lang="es-ES" smtClean="0"/>
              <a:t>‹Nº›</a:t>
            </a:fld>
            <a:endParaRPr lang="es-ES"/>
          </a:p>
        </p:txBody>
      </p:sp>
      <p:sp>
        <p:nvSpPr>
          <p:cNvPr id="7" name="6 Rectángulo"/>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7 Rectángulo"/>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a:xfrm>
            <a:off x="457200" y="228600"/>
            <a:ext cx="8229600" cy="914400"/>
          </a:xfrm>
        </p:spPr>
        <p:txBody>
          <a:bodyPr/>
          <a:lstStyle/>
          <a:p>
            <a:r>
              <a:rPr kumimoji="0" lang="es-ES" smtClean="0"/>
              <a:t>Haga clic para modificar el estilo de título del patrón</a:t>
            </a:r>
            <a:endParaRPr kumimoji="0" lang="en-US"/>
          </a:p>
        </p:txBody>
      </p:sp>
      <p:sp>
        <p:nvSpPr>
          <p:cNvPr id="5" name="4 Marcador de fecha"/>
          <p:cNvSpPr>
            <a:spLocks noGrp="1"/>
          </p:cNvSpPr>
          <p:nvPr>
            <p:ph type="dt" sz="half" idx="10"/>
          </p:nvPr>
        </p:nvSpPr>
        <p:spPr/>
        <p:txBody>
          <a:bodyPr/>
          <a:lstStyle/>
          <a:p>
            <a:fld id="{AB086767-D7B2-4E81-BBD1-28F91D9C5BE7}" type="datetimeFigureOut">
              <a:rPr lang="es-ES" smtClean="0"/>
              <a:t>23/04/2023</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2A2DD96C-6E0D-47DD-9BE4-A95B38B45D0E}" type="slidenum">
              <a:rPr lang="es-ES" smtClean="0"/>
              <a:t>‹Nº›</a:t>
            </a:fld>
            <a:endParaRPr lang="es-ES"/>
          </a:p>
        </p:txBody>
      </p:sp>
      <p:sp>
        <p:nvSpPr>
          <p:cNvPr id="9" name="8 Marcador de contenido"/>
          <p:cNvSpPr>
            <a:spLocks noGrp="1"/>
          </p:cNvSpPr>
          <p:nvPr>
            <p:ph sz="quarter" idx="1"/>
          </p:nvPr>
        </p:nvSpPr>
        <p:spPr>
          <a:xfrm>
            <a:off x="457200" y="1219200"/>
            <a:ext cx="4041648" cy="4937760"/>
          </a:xfrm>
        </p:spPr>
        <p:txBody>
          <a:body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11" name="10 Marcador de contenido"/>
          <p:cNvSpPr>
            <a:spLocks noGrp="1"/>
          </p:cNvSpPr>
          <p:nvPr>
            <p:ph sz="quarter" idx="2"/>
          </p:nvPr>
        </p:nvSpPr>
        <p:spPr>
          <a:xfrm>
            <a:off x="4632198" y="1216152"/>
            <a:ext cx="4041648" cy="4937760"/>
          </a:xfrm>
        </p:spPr>
        <p:txBody>
          <a:body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a:xfrm>
            <a:off x="457200" y="228600"/>
            <a:ext cx="8229600" cy="914400"/>
          </a:xfrm>
        </p:spPr>
        <p:txBody>
          <a:bodyPr anchor="ctr"/>
          <a:lstStyle>
            <a:lvl1pPr>
              <a:defRPr/>
            </a:lvl1pPr>
          </a:lstStyle>
          <a:p>
            <a:r>
              <a:rPr kumimoji="0" lang="es-ES" smtClean="0"/>
              <a:t>Haga clic para modificar el estilo de título del patrón</a:t>
            </a:r>
            <a:endParaRPr kumimoji="0" lang="en-US"/>
          </a:p>
        </p:txBody>
      </p:sp>
      <p:sp>
        <p:nvSpPr>
          <p:cNvPr id="3" name="2 Marcador de texto"/>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s-ES" smtClean="0"/>
              <a:t>Haga clic para modificar el estilo de texto del patrón</a:t>
            </a:r>
          </a:p>
        </p:txBody>
      </p:sp>
      <p:sp>
        <p:nvSpPr>
          <p:cNvPr id="4" name="3 Marcador de texto"/>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s-ES" smtClean="0"/>
              <a:t>Haga clic para modificar el estilo de texto del patrón</a:t>
            </a:r>
          </a:p>
        </p:txBody>
      </p:sp>
      <p:sp>
        <p:nvSpPr>
          <p:cNvPr id="7" name="6 Marcador de fecha"/>
          <p:cNvSpPr>
            <a:spLocks noGrp="1"/>
          </p:cNvSpPr>
          <p:nvPr>
            <p:ph type="dt" sz="half" idx="10"/>
          </p:nvPr>
        </p:nvSpPr>
        <p:spPr/>
        <p:txBody>
          <a:bodyPr/>
          <a:lstStyle/>
          <a:p>
            <a:fld id="{AB086767-D7B2-4E81-BBD1-28F91D9C5BE7}" type="datetimeFigureOut">
              <a:rPr lang="es-ES" smtClean="0"/>
              <a:t>23/04/2023</a:t>
            </a:fld>
            <a:endParaRPr lang="es-ES"/>
          </a:p>
        </p:txBody>
      </p:sp>
      <p:sp>
        <p:nvSpPr>
          <p:cNvPr id="8" name="7 Marcador de pie de página"/>
          <p:cNvSpPr>
            <a:spLocks noGrp="1"/>
          </p:cNvSpPr>
          <p:nvPr>
            <p:ph type="ftr" sz="quarter" idx="11"/>
          </p:nvPr>
        </p:nvSpPr>
        <p:spPr/>
        <p:txBody>
          <a:bodyPr/>
          <a:lstStyle/>
          <a:p>
            <a:endParaRPr lang="es-ES"/>
          </a:p>
        </p:txBody>
      </p:sp>
      <p:sp>
        <p:nvSpPr>
          <p:cNvPr id="9" name="8 Marcador de número de diapositiva"/>
          <p:cNvSpPr>
            <a:spLocks noGrp="1"/>
          </p:cNvSpPr>
          <p:nvPr>
            <p:ph type="sldNum" sz="quarter" idx="12"/>
          </p:nvPr>
        </p:nvSpPr>
        <p:spPr/>
        <p:txBody>
          <a:bodyPr/>
          <a:lstStyle/>
          <a:p>
            <a:fld id="{2A2DD96C-6E0D-47DD-9BE4-A95B38B45D0E}" type="slidenum">
              <a:rPr lang="es-ES" smtClean="0"/>
              <a:t>‹Nº›</a:t>
            </a:fld>
            <a:endParaRPr lang="es-ES"/>
          </a:p>
        </p:txBody>
      </p:sp>
      <p:sp>
        <p:nvSpPr>
          <p:cNvPr id="11" name="10 Marcador de contenido"/>
          <p:cNvSpPr>
            <a:spLocks noGrp="1"/>
          </p:cNvSpPr>
          <p:nvPr>
            <p:ph sz="quarter" idx="2"/>
          </p:nvPr>
        </p:nvSpPr>
        <p:spPr>
          <a:xfrm>
            <a:off x="457200" y="2133600"/>
            <a:ext cx="4038600" cy="4038600"/>
          </a:xfrm>
        </p:spPr>
        <p:txBody>
          <a:body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13" name="12 Marcador de contenido"/>
          <p:cNvSpPr>
            <a:spLocks noGrp="1"/>
          </p:cNvSpPr>
          <p:nvPr>
            <p:ph sz="quarter" idx="4"/>
          </p:nvPr>
        </p:nvSpPr>
        <p:spPr>
          <a:xfrm>
            <a:off x="4648200" y="2133600"/>
            <a:ext cx="4038600" cy="4038600"/>
          </a:xfrm>
        </p:spPr>
        <p:txBody>
          <a:body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28600"/>
            <a:ext cx="8229600" cy="914400"/>
          </a:xfrm>
        </p:spPr>
        <p:txBody>
          <a:bodyPr/>
          <a:lstStyle/>
          <a:p>
            <a:r>
              <a:rPr kumimoji="0" lang="es-ES" smtClean="0"/>
              <a:t>Haga clic para modificar el estilo de título del patrón</a:t>
            </a:r>
            <a:endParaRPr kumimoji="0" lang="en-US"/>
          </a:p>
        </p:txBody>
      </p:sp>
      <p:sp>
        <p:nvSpPr>
          <p:cNvPr id="3" name="2 Marcador de fecha"/>
          <p:cNvSpPr>
            <a:spLocks noGrp="1"/>
          </p:cNvSpPr>
          <p:nvPr>
            <p:ph type="dt" sz="half" idx="10"/>
          </p:nvPr>
        </p:nvSpPr>
        <p:spPr/>
        <p:txBody>
          <a:bodyPr/>
          <a:lstStyle/>
          <a:p>
            <a:fld id="{AB086767-D7B2-4E81-BBD1-28F91D9C5BE7}" type="datetimeFigureOut">
              <a:rPr lang="es-ES" smtClean="0"/>
              <a:t>23/04/2023</a:t>
            </a:fld>
            <a:endParaRPr lang="es-ES"/>
          </a:p>
        </p:txBody>
      </p:sp>
      <p:sp>
        <p:nvSpPr>
          <p:cNvPr id="4" name="3 Marcador de pie de página"/>
          <p:cNvSpPr>
            <a:spLocks noGrp="1"/>
          </p:cNvSpPr>
          <p:nvPr>
            <p:ph type="ftr" sz="quarter" idx="11"/>
          </p:nvPr>
        </p:nvSpPr>
        <p:spPr/>
        <p:txBody>
          <a:bodyPr/>
          <a:lstStyle/>
          <a:p>
            <a:endParaRPr lang="es-ES"/>
          </a:p>
        </p:txBody>
      </p:sp>
      <p:sp>
        <p:nvSpPr>
          <p:cNvPr id="5" name="4 Marcador de número de diapositiva"/>
          <p:cNvSpPr>
            <a:spLocks noGrp="1"/>
          </p:cNvSpPr>
          <p:nvPr>
            <p:ph type="sldNum" sz="quarter" idx="12"/>
          </p:nvPr>
        </p:nvSpPr>
        <p:spPr/>
        <p:txBody>
          <a:bodyPr/>
          <a:lstStyle/>
          <a:p>
            <a:fld id="{2A2DD96C-6E0D-47DD-9BE4-A95B38B45D0E}" type="slidenum">
              <a:rPr lang="es-ES" smtClean="0"/>
              <a:t>‹Nº›</a:t>
            </a:fld>
            <a:endParaRPr lang="es-ES"/>
          </a:p>
        </p:txBody>
      </p:sp>
      <p:sp>
        <p:nvSpPr>
          <p:cNvPr id="6" name="5 Triángulo isósceles"/>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AB086767-D7B2-4E81-BBD1-28F91D9C5BE7}" type="datetimeFigureOut">
              <a:rPr lang="es-ES" smtClean="0"/>
              <a:t>23/04/2023</a:t>
            </a:fld>
            <a:endParaRPr lang="es-ES"/>
          </a:p>
        </p:txBody>
      </p:sp>
      <p:sp>
        <p:nvSpPr>
          <p:cNvPr id="3" name="2 Marcador de pie de página"/>
          <p:cNvSpPr>
            <a:spLocks noGrp="1"/>
          </p:cNvSpPr>
          <p:nvPr>
            <p:ph type="ftr" sz="quarter" idx="11"/>
          </p:nvPr>
        </p:nvSpPr>
        <p:spPr/>
        <p:txBody>
          <a:bodyPr/>
          <a:lstStyle/>
          <a:p>
            <a:endParaRPr lang="es-ES"/>
          </a:p>
        </p:txBody>
      </p:sp>
      <p:sp>
        <p:nvSpPr>
          <p:cNvPr id="4" name="3 Marcador de número de diapositiva"/>
          <p:cNvSpPr>
            <a:spLocks noGrp="1"/>
          </p:cNvSpPr>
          <p:nvPr>
            <p:ph type="sldNum" sz="quarter" idx="12"/>
          </p:nvPr>
        </p:nvSpPr>
        <p:spPr/>
        <p:txBody>
          <a:bodyPr/>
          <a:lstStyle/>
          <a:p>
            <a:fld id="{2A2DD96C-6E0D-47DD-9BE4-A95B38B45D0E}" type="slidenum">
              <a:rPr lang="es-ES" smtClean="0"/>
              <a:t>‹Nº›</a:t>
            </a:fld>
            <a:endParaRPr lang="es-ES"/>
          </a:p>
        </p:txBody>
      </p:sp>
      <p:sp>
        <p:nvSpPr>
          <p:cNvPr id="5" name="4 Conector recto"/>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6" name="5 Triángulo isósceles"/>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s-ES" smtClean="0"/>
              <a:t>Haga clic para modificar el estilo de título del patrón</a:t>
            </a:r>
            <a:endParaRPr kumimoji="0" lang="en-US"/>
          </a:p>
        </p:txBody>
      </p:sp>
      <p:sp>
        <p:nvSpPr>
          <p:cNvPr id="3" name="2 Marcador de texto"/>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s-ES" smtClean="0"/>
              <a:t>Haga clic para modificar el estilo de texto del patrón</a:t>
            </a:r>
          </a:p>
        </p:txBody>
      </p:sp>
      <p:sp>
        <p:nvSpPr>
          <p:cNvPr id="5" name="4 Marcador de fecha"/>
          <p:cNvSpPr>
            <a:spLocks noGrp="1"/>
          </p:cNvSpPr>
          <p:nvPr>
            <p:ph type="dt" sz="half" idx="10"/>
          </p:nvPr>
        </p:nvSpPr>
        <p:spPr/>
        <p:txBody>
          <a:bodyPr/>
          <a:lstStyle/>
          <a:p>
            <a:fld id="{AB086767-D7B2-4E81-BBD1-28F91D9C5BE7}" type="datetimeFigureOut">
              <a:rPr lang="es-ES" smtClean="0"/>
              <a:t>23/04/2023</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2A2DD96C-6E0D-47DD-9BE4-A95B38B45D0E}" type="slidenum">
              <a:rPr lang="es-ES" smtClean="0"/>
              <a:t>‹Nº›</a:t>
            </a:fld>
            <a:endParaRPr lang="es-ES"/>
          </a:p>
        </p:txBody>
      </p:sp>
      <p:sp>
        <p:nvSpPr>
          <p:cNvPr id="8" name="7 Conector recto"/>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9 Conector recto"/>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8 Triángulo isósceles"/>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11 Marcador de contenido"/>
          <p:cNvSpPr>
            <a:spLocks noGrp="1"/>
          </p:cNvSpPr>
          <p:nvPr>
            <p:ph sz="quarter" idx="1"/>
          </p:nvPr>
        </p:nvSpPr>
        <p:spPr>
          <a:xfrm>
            <a:off x="304800" y="304800"/>
            <a:ext cx="5715000" cy="5715000"/>
          </a:xfrm>
        </p:spPr>
        <p:txBody>
          <a:body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bg>
      <p:bgRef idx="1001">
        <a:schemeClr val="bg2"/>
      </p:bgRef>
    </p:bg>
    <p:spTree>
      <p:nvGrpSpPr>
        <p:cNvPr id="1" name=""/>
        <p:cNvGrpSpPr/>
        <p:nvPr/>
      </p:nvGrpSpPr>
      <p:grpSpPr>
        <a:xfrm>
          <a:off x="0" y="0"/>
          <a:ext cx="0" cy="0"/>
          <a:chOff x="0" y="0"/>
          <a:chExt cx="0" cy="0"/>
        </a:xfrm>
      </p:grpSpPr>
      <p:sp>
        <p:nvSpPr>
          <p:cNvPr id="2" name="1 Título"/>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es-ES" smtClean="0"/>
              <a:t>Haga clic para modificar el estilo de título del patrón</a:t>
            </a:r>
            <a:endParaRPr kumimoji="0" lang="en-US"/>
          </a:p>
        </p:txBody>
      </p:sp>
      <p:sp>
        <p:nvSpPr>
          <p:cNvPr id="3" name="2 Marcador de posición de imagen"/>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es-ES" smtClean="0"/>
              <a:t>Haga clic en el icono para agregar una imagen</a:t>
            </a:r>
            <a:endParaRPr kumimoji="0" lang="en-US" dirty="0"/>
          </a:p>
        </p:txBody>
      </p:sp>
      <p:sp>
        <p:nvSpPr>
          <p:cNvPr id="4" name="3 Marcador de texto"/>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s-ES" smtClean="0"/>
              <a:t>Haga clic para modificar el estilo de texto del patrón</a:t>
            </a:r>
          </a:p>
        </p:txBody>
      </p:sp>
      <p:sp>
        <p:nvSpPr>
          <p:cNvPr id="5" name="4 Marcador de fecha"/>
          <p:cNvSpPr>
            <a:spLocks noGrp="1"/>
          </p:cNvSpPr>
          <p:nvPr>
            <p:ph type="dt" sz="half" idx="10"/>
          </p:nvPr>
        </p:nvSpPr>
        <p:spPr/>
        <p:txBody>
          <a:bodyPr/>
          <a:lstStyle/>
          <a:p>
            <a:fld id="{AB086767-D7B2-4E81-BBD1-28F91D9C5BE7}" type="datetimeFigureOut">
              <a:rPr lang="es-ES" smtClean="0"/>
              <a:t>23/04/2023</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2A2DD96C-6E0D-47DD-9BE4-A95B38B45D0E}" type="slidenum">
              <a:rPr lang="es-ES" smtClean="0"/>
              <a:t>‹Nº›</a:t>
            </a:fld>
            <a:endParaRPr lang="es-ES"/>
          </a:p>
        </p:txBody>
      </p:sp>
      <p:sp>
        <p:nvSpPr>
          <p:cNvPr id="8" name="7 Conector recto"/>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9" name="8 Triángulo isósceles"/>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9 Rectángulo"/>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smtClean="0"/>
              <a:t>Haga clic para modificar el estilo de título del patrón</a:t>
            </a:r>
            <a:endParaRPr kumimoji="0" lang="en-US"/>
          </a:p>
        </p:txBody>
      </p:sp>
      <p:sp>
        <p:nvSpPr>
          <p:cNvPr id="3" name="2 Marcador de texto vertical"/>
          <p:cNvSpPr>
            <a:spLocks noGrp="1"/>
          </p:cNvSpPr>
          <p:nvPr>
            <p:ph type="body" orient="vert" idx="1"/>
          </p:nvPr>
        </p:nvSpPr>
        <p:spPr/>
        <p:txBody>
          <a:bodyPr vert="eaVer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fecha"/>
          <p:cNvSpPr>
            <a:spLocks noGrp="1"/>
          </p:cNvSpPr>
          <p:nvPr>
            <p:ph type="dt" sz="half" idx="10"/>
          </p:nvPr>
        </p:nvSpPr>
        <p:spPr/>
        <p:txBody>
          <a:bodyPr/>
          <a:lstStyle/>
          <a:p>
            <a:fld id="{AB086767-D7B2-4E81-BBD1-28F91D9C5BE7}" type="datetimeFigureOut">
              <a:rPr lang="es-ES" smtClean="0"/>
              <a:t>23/04/2023</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2A2DD96C-6E0D-47DD-9BE4-A95B38B45D0E}" type="slidenum">
              <a:rPr lang="es-ES" smtClean="0"/>
              <a:t>‹Nº›</a:t>
            </a:fld>
            <a:endParaRPr lang="es-E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kumimoji="0" lang="es-ES" smtClean="0"/>
              <a:t>Haga clic para modificar el estilo de título del patrón</a:t>
            </a:r>
            <a:endParaRPr kumimoji="0" lang="en-US"/>
          </a:p>
        </p:txBody>
      </p:sp>
      <p:sp>
        <p:nvSpPr>
          <p:cNvPr id="3" name="2 Marcador de texto vertical"/>
          <p:cNvSpPr>
            <a:spLocks noGrp="1"/>
          </p:cNvSpPr>
          <p:nvPr>
            <p:ph type="body" orient="vert" idx="1"/>
          </p:nvPr>
        </p:nvSpPr>
        <p:spPr>
          <a:xfrm>
            <a:off x="457200" y="274638"/>
            <a:ext cx="6019800" cy="5851525"/>
          </a:xfrm>
        </p:spPr>
        <p:txBody>
          <a:bodyPr vert="eaVer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fecha"/>
          <p:cNvSpPr>
            <a:spLocks noGrp="1"/>
          </p:cNvSpPr>
          <p:nvPr>
            <p:ph type="dt" sz="half" idx="10"/>
          </p:nvPr>
        </p:nvSpPr>
        <p:spPr/>
        <p:txBody>
          <a:bodyPr/>
          <a:lstStyle/>
          <a:p>
            <a:fld id="{AB086767-D7B2-4E81-BBD1-28F91D9C5BE7}" type="datetimeFigureOut">
              <a:rPr lang="es-ES" smtClean="0"/>
              <a:t>23/04/2023</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2A2DD96C-6E0D-47DD-9BE4-A95B38B45D0E}" type="slidenum">
              <a:rPr lang="es-ES" smtClean="0"/>
              <a:t>‹Nº›</a:t>
            </a:fld>
            <a:endParaRPr lang="es-ES"/>
          </a:p>
        </p:txBody>
      </p:sp>
      <p:sp>
        <p:nvSpPr>
          <p:cNvPr id="7" name="6 Conector recto"/>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8" name="7 Triángulo isósceles"/>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8 Conector recto"/>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21 Marcador de título"/>
          <p:cNvSpPr>
            <a:spLocks noGrp="1"/>
          </p:cNvSpPr>
          <p:nvPr>
            <p:ph type="title"/>
          </p:nvPr>
        </p:nvSpPr>
        <p:spPr>
          <a:xfrm>
            <a:off x="457200" y="152400"/>
            <a:ext cx="8229600" cy="990600"/>
          </a:xfrm>
          <a:prstGeom prst="rect">
            <a:avLst/>
          </a:prstGeom>
        </p:spPr>
        <p:txBody>
          <a:bodyPr vert="horz" anchor="b" anchorCtr="0">
            <a:normAutofit/>
          </a:bodyPr>
          <a:lstStyle/>
          <a:p>
            <a:r>
              <a:rPr kumimoji="0" lang="es-ES" smtClean="0"/>
              <a:t>Haga clic para modificar el estilo de título del patrón</a:t>
            </a:r>
            <a:endParaRPr kumimoji="0" lang="en-US"/>
          </a:p>
        </p:txBody>
      </p:sp>
      <p:sp>
        <p:nvSpPr>
          <p:cNvPr id="13" name="12 Marcador de texto"/>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s-ES" smtClean="0"/>
              <a:t>Haga clic para modificar el estilo de texto del patrón</a:t>
            </a:r>
          </a:p>
          <a:p>
            <a:pPr lvl="1" eaLnBrk="1" latinLnBrk="0" hangingPunct="1"/>
            <a:r>
              <a:rPr kumimoji="0" lang="es-ES" smtClean="0"/>
              <a:t>Segundo nivel</a:t>
            </a:r>
          </a:p>
          <a:p>
            <a:pPr lvl="2" eaLnBrk="1" latinLnBrk="0" hangingPunct="1"/>
            <a:r>
              <a:rPr kumimoji="0" lang="es-ES" smtClean="0"/>
              <a:t>Tercer nivel</a:t>
            </a:r>
          </a:p>
          <a:p>
            <a:pPr lvl="3" eaLnBrk="1" latinLnBrk="0" hangingPunct="1"/>
            <a:r>
              <a:rPr kumimoji="0" lang="es-ES" smtClean="0"/>
              <a:t>Cuarto nivel</a:t>
            </a:r>
          </a:p>
          <a:p>
            <a:pPr lvl="4" eaLnBrk="1" latinLnBrk="0" hangingPunct="1"/>
            <a:r>
              <a:rPr kumimoji="0" lang="es-ES" smtClean="0"/>
              <a:t>Quinto nivel</a:t>
            </a:r>
            <a:endParaRPr kumimoji="0" lang="en-US"/>
          </a:p>
        </p:txBody>
      </p:sp>
      <p:sp>
        <p:nvSpPr>
          <p:cNvPr id="14" name="13 Marcador de fecha"/>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fld id="{AB086767-D7B2-4E81-BBD1-28F91D9C5BE7}" type="datetimeFigureOut">
              <a:rPr lang="es-ES" smtClean="0"/>
              <a:t>23/04/2023</a:t>
            </a:fld>
            <a:endParaRPr lang="es-ES"/>
          </a:p>
        </p:txBody>
      </p:sp>
      <p:sp>
        <p:nvSpPr>
          <p:cNvPr id="3" name="2 Marcador de pie de página"/>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endParaRPr lang="es-ES"/>
          </a:p>
        </p:txBody>
      </p:sp>
      <p:sp>
        <p:nvSpPr>
          <p:cNvPr id="23" name="22 Marcador de número de diapositiva"/>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fld id="{2A2DD96C-6E0D-47DD-9BE4-A95B38B45D0E}" type="slidenum">
              <a:rPr lang="es-ES" smtClean="0"/>
              <a:t>‹Nº›</a:t>
            </a:fld>
            <a:endParaRPr lang="es-ES"/>
          </a:p>
        </p:txBody>
      </p:sp>
      <p:sp>
        <p:nvSpPr>
          <p:cNvPr id="28" name="27 Conector recto"/>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29" name="28 Conector recto"/>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9 Triángulo isósceles"/>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3.xml"/><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6.xml"/><Relationship Id="rId5" Type="http://schemas.openxmlformats.org/officeDocument/2006/relationships/image" Target="../media/image16.png"/><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6.xml"/><Relationship Id="rId5" Type="http://schemas.openxmlformats.org/officeDocument/2006/relationships/image" Target="../media/image24.png"/><Relationship Id="rId4" Type="http://schemas.openxmlformats.org/officeDocument/2006/relationships/image" Target="../media/image23.png"/></Relationships>
</file>

<file path=ppt/slides/_rels/slide2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190.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6.xml"/><Relationship Id="rId4" Type="http://schemas.openxmlformats.org/officeDocument/2006/relationships/image" Target="../media/image46.png"/></Relationships>
</file>

<file path=ppt/slides/_rels/slide3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59.png"/><Relationship Id="rId1" Type="http://schemas.openxmlformats.org/officeDocument/2006/relationships/slideLayout" Target="../slideLayouts/slideLayout6.xml"/><Relationship Id="rId4" Type="http://schemas.openxmlformats.org/officeDocument/2006/relationships/image" Target="../media/image67.png"/></Relationships>
</file>

<file path=ppt/slides/_rels/slide61.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1.png"/><Relationship Id="rId1" Type="http://schemas.openxmlformats.org/officeDocument/2006/relationships/slideLayout" Target="../slideLayouts/slideLayout6.xml"/><Relationship Id="rId4" Type="http://schemas.openxmlformats.org/officeDocument/2006/relationships/image" Target="../media/image69.png"/></Relationships>
</file>

<file path=ppt/slides/_rels/slide6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3" Type="http://schemas.openxmlformats.org/officeDocument/2006/relationships/image" Target="../media/image76.jpeg"/><Relationship Id="rId2" Type="http://schemas.openxmlformats.org/officeDocument/2006/relationships/image" Target="../media/image2.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gasto\Downloads\dsp.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228600"/>
            <a:ext cx="9525000" cy="7086600"/>
          </a:xfrm>
          <a:prstGeom prst="rect">
            <a:avLst/>
          </a:prstGeom>
          <a:noFill/>
          <a:extLst>
            <a:ext uri="{909E8E84-426E-40DD-AFC4-6F175D3DCCD1}">
              <a14:hiddenFill xmlns:a14="http://schemas.microsoft.com/office/drawing/2010/main">
                <a:solidFill>
                  <a:srgbClr val="FFFFFF"/>
                </a:solidFill>
              </a14:hiddenFill>
            </a:ext>
          </a:extLst>
        </p:spPr>
      </p:pic>
      <p:sp>
        <p:nvSpPr>
          <p:cNvPr id="2" name="1 Título"/>
          <p:cNvSpPr>
            <a:spLocks noGrp="1"/>
          </p:cNvSpPr>
          <p:nvPr>
            <p:ph type="ctrTitle"/>
          </p:nvPr>
        </p:nvSpPr>
        <p:spPr>
          <a:solidFill>
            <a:schemeClr val="accent4">
              <a:lumMod val="75000"/>
            </a:schemeClr>
          </a:solidFill>
          <a:ln w="28575">
            <a:solidFill>
              <a:schemeClr val="tx1"/>
            </a:solidFill>
            <a:prstDash val="sysDash"/>
          </a:ln>
        </p:spPr>
        <p:txBody>
          <a:bodyPr>
            <a:normAutofit fontScale="90000"/>
          </a:bodyPr>
          <a:lstStyle/>
          <a:p>
            <a:r>
              <a:rPr lang="es-AR" dirty="0" smtClean="0"/>
              <a:t>Procesamiento Digital de Señales</a:t>
            </a:r>
            <a:br>
              <a:rPr lang="es-AR" dirty="0" smtClean="0"/>
            </a:br>
            <a:r>
              <a:rPr lang="es-AR" dirty="0" smtClean="0"/>
              <a:t>(E7S)</a:t>
            </a:r>
            <a:endParaRPr lang="es-ES" dirty="0"/>
          </a:p>
        </p:txBody>
      </p:sp>
      <p:sp>
        <p:nvSpPr>
          <p:cNvPr id="3" name="2 Subtítulo"/>
          <p:cNvSpPr>
            <a:spLocks noGrp="1"/>
          </p:cNvSpPr>
          <p:nvPr>
            <p:ph type="subTitle" idx="1"/>
          </p:nvPr>
        </p:nvSpPr>
        <p:spPr>
          <a:solidFill>
            <a:schemeClr val="accent4">
              <a:lumMod val="75000"/>
            </a:schemeClr>
          </a:solidFill>
          <a:ln w="38100">
            <a:solidFill>
              <a:schemeClr val="tx1"/>
            </a:solidFill>
            <a:prstDash val="dash"/>
          </a:ln>
        </p:spPr>
        <p:txBody>
          <a:bodyPr/>
          <a:lstStyle/>
          <a:p>
            <a:r>
              <a:rPr lang="es-AR" dirty="0" smtClean="0"/>
              <a:t>PROYECTO INTEGRADOR - 2021</a:t>
            </a:r>
            <a:endParaRPr lang="es-ES" dirty="0"/>
          </a:p>
        </p:txBody>
      </p:sp>
    </p:spTree>
    <p:extLst>
      <p:ext uri="{BB962C8B-B14F-4D97-AF65-F5344CB8AC3E}">
        <p14:creationId xmlns:p14="http://schemas.microsoft.com/office/powerpoint/2010/main" val="184618135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219200" y="2438400"/>
            <a:ext cx="6858000" cy="1066800"/>
          </a:xfrm>
        </p:spPr>
        <p:txBody>
          <a:bodyPr/>
          <a:lstStyle/>
          <a:p>
            <a:r>
              <a:rPr lang="es-AR" dirty="0" smtClean="0"/>
              <a:t/>
            </a:r>
            <a:br>
              <a:rPr lang="es-AR" dirty="0" smtClean="0"/>
            </a:br>
            <a:r>
              <a:rPr lang="es-AR" dirty="0" smtClean="0"/>
              <a:t>FILTRO DIGITAL DE FASE CERO</a:t>
            </a:r>
            <a:endParaRPr lang="es-ES" dirty="0"/>
          </a:p>
        </p:txBody>
      </p:sp>
      <p:sp>
        <p:nvSpPr>
          <p:cNvPr id="3" name="2 Marcador de texto"/>
          <p:cNvSpPr>
            <a:spLocks noGrp="1"/>
          </p:cNvSpPr>
          <p:nvPr>
            <p:ph type="body" idx="1"/>
          </p:nvPr>
        </p:nvSpPr>
        <p:spPr>
          <a:xfrm>
            <a:off x="1371600" y="3352800"/>
            <a:ext cx="6781800" cy="1143000"/>
          </a:xfrm>
        </p:spPr>
        <p:txBody>
          <a:bodyPr/>
          <a:lstStyle/>
          <a:p>
            <a:pPr algn="ctr"/>
            <a:r>
              <a:rPr lang="es-AR" dirty="0" smtClean="0"/>
              <a:t>Aplicación: PROCESAMIENTO DE SEÑAL DE ELECTROCARDIOGRAMA DE TRES VIAS</a:t>
            </a:r>
            <a:endParaRPr lang="es-ES" dirty="0"/>
          </a:p>
        </p:txBody>
      </p:sp>
      <p:pic>
        <p:nvPicPr>
          <p:cNvPr id="2050" name="Picture 2" descr="C:\Users\gasto\Downloads\Gaston Ance.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90509" y="265508"/>
            <a:ext cx="1791892" cy="1791892"/>
          </a:xfrm>
          <a:prstGeom prst="rect">
            <a:avLst/>
          </a:prstGeom>
          <a:noFill/>
          <a:extLst>
            <a:ext uri="{909E8E84-426E-40DD-AFC4-6F175D3DCCD1}">
              <a14:hiddenFill xmlns:a14="http://schemas.microsoft.com/office/drawing/2010/main">
                <a:solidFill>
                  <a:srgbClr val="FFFFFF"/>
                </a:solidFill>
              </a14:hiddenFill>
            </a:ext>
          </a:extLst>
        </p:spPr>
      </p:pic>
      <p:pic>
        <p:nvPicPr>
          <p:cNvPr id="2051" name="Picture 3" descr="C:\Users\gasto\Downloads\Emiliano Arnedo.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934200" y="240108"/>
            <a:ext cx="1770222" cy="1770222"/>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C:\Users\gasto\Downloads\Leonardo Diaz.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66525" y="4343400"/>
            <a:ext cx="1774984" cy="1774984"/>
          </a:xfrm>
          <a:prstGeom prst="rect">
            <a:avLst/>
          </a:prstGeom>
          <a:noFill/>
          <a:extLst>
            <a:ext uri="{909E8E84-426E-40DD-AFC4-6F175D3DCCD1}">
              <a14:hiddenFill xmlns:a14="http://schemas.microsoft.com/office/drawing/2010/main">
                <a:solidFill>
                  <a:srgbClr val="FFFFFF"/>
                </a:solidFill>
              </a14:hiddenFill>
            </a:ext>
          </a:extLst>
        </p:spPr>
      </p:pic>
      <p:sp>
        <p:nvSpPr>
          <p:cNvPr id="7" name="2 Marcador de texto"/>
          <p:cNvSpPr txBox="1">
            <a:spLocks/>
          </p:cNvSpPr>
          <p:nvPr/>
        </p:nvSpPr>
        <p:spPr>
          <a:xfrm>
            <a:off x="-4240291" y="2090262"/>
            <a:ext cx="6781800" cy="1143000"/>
          </a:xfrm>
          <a:prstGeom prst="rect">
            <a:avLst/>
          </a:prstGeom>
        </p:spPr>
        <p:txBody>
          <a:bodyPr vert="horz" anchor="t" anchorCtr="0">
            <a:normAutofit/>
          </a:bodyPr>
          <a:lstStyle>
            <a:lvl1pPr marL="0" indent="0" algn="r" rtl="0" eaLnBrk="1" latinLnBrk="0" hangingPunct="1">
              <a:spcBef>
                <a:spcPts val="600"/>
              </a:spcBef>
              <a:buClr>
                <a:schemeClr val="accent1"/>
              </a:buClr>
              <a:buSzPct val="76000"/>
              <a:buFont typeface="Wingdings 3"/>
              <a:buNone/>
              <a:defRPr kumimoji="0" sz="2000" kern="1200">
                <a:solidFill>
                  <a:schemeClr val="tx1">
                    <a:tint val="75000"/>
                  </a:schemeClr>
                </a:solidFill>
                <a:latin typeface="+mn-lt"/>
                <a:ea typeface="+mn-ea"/>
                <a:cs typeface="+mn-cs"/>
              </a:defRPr>
            </a:lvl1pPr>
            <a:lvl2pPr marL="548640" indent="-274320" algn="l" rtl="0" eaLnBrk="1" latinLnBrk="0" hangingPunct="1">
              <a:spcBef>
                <a:spcPts val="500"/>
              </a:spcBef>
              <a:buClr>
                <a:schemeClr val="accent2"/>
              </a:buClr>
              <a:buSzPct val="76000"/>
              <a:buFont typeface="Wingdings 3"/>
              <a:buNone/>
              <a:defRPr kumimoji="0" sz="1800" kern="1200">
                <a:solidFill>
                  <a:schemeClr val="tx1">
                    <a:tint val="75000"/>
                  </a:schemeClr>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None/>
              <a:defRPr kumimoji="0" sz="1600" kern="1200">
                <a:solidFill>
                  <a:schemeClr val="tx1">
                    <a:tint val="75000"/>
                  </a:schemeClr>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None/>
              <a:defRPr kumimoji="0" sz="1400" kern="1200">
                <a:solidFill>
                  <a:schemeClr val="tx1">
                    <a:tint val="75000"/>
                  </a:schemeClr>
                </a:solidFill>
                <a:latin typeface="+mn-lt"/>
                <a:ea typeface="+mn-ea"/>
                <a:cs typeface="+mn-cs"/>
              </a:defRPr>
            </a:lvl4pPr>
            <a:lvl5pPr marL="1371600" indent="-228600" algn="l" rtl="0" eaLnBrk="1" latinLnBrk="0" hangingPunct="1">
              <a:spcBef>
                <a:spcPts val="300"/>
              </a:spcBef>
              <a:buClr>
                <a:schemeClr val="accent2"/>
              </a:buClr>
              <a:buSzPct val="70000"/>
              <a:buFont typeface="Wingdings"/>
              <a:buNone/>
              <a:defRPr kumimoji="0" sz="1400" kern="1200">
                <a:solidFill>
                  <a:schemeClr val="tx1">
                    <a:tint val="75000"/>
                  </a:schemeClr>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s-AR" dirty="0" smtClean="0"/>
              <a:t>ANCE G. A.</a:t>
            </a:r>
            <a:endParaRPr lang="es-ES" dirty="0"/>
          </a:p>
        </p:txBody>
      </p:sp>
      <p:sp>
        <p:nvSpPr>
          <p:cNvPr id="8" name="2 Marcador de texto"/>
          <p:cNvSpPr txBox="1">
            <a:spLocks/>
          </p:cNvSpPr>
          <p:nvPr/>
        </p:nvSpPr>
        <p:spPr>
          <a:xfrm>
            <a:off x="1884522" y="2059623"/>
            <a:ext cx="6781800" cy="1143000"/>
          </a:xfrm>
          <a:prstGeom prst="rect">
            <a:avLst/>
          </a:prstGeom>
        </p:spPr>
        <p:txBody>
          <a:bodyPr vert="horz" anchor="t" anchorCtr="0">
            <a:normAutofit/>
          </a:bodyPr>
          <a:lstStyle>
            <a:lvl1pPr marL="0" indent="0" algn="r" rtl="0" eaLnBrk="1" latinLnBrk="0" hangingPunct="1">
              <a:spcBef>
                <a:spcPts val="600"/>
              </a:spcBef>
              <a:buClr>
                <a:schemeClr val="accent1"/>
              </a:buClr>
              <a:buSzPct val="76000"/>
              <a:buFont typeface="Wingdings 3"/>
              <a:buNone/>
              <a:defRPr kumimoji="0" sz="2000" kern="1200">
                <a:solidFill>
                  <a:schemeClr val="tx1">
                    <a:tint val="75000"/>
                  </a:schemeClr>
                </a:solidFill>
                <a:latin typeface="+mn-lt"/>
                <a:ea typeface="+mn-ea"/>
                <a:cs typeface="+mn-cs"/>
              </a:defRPr>
            </a:lvl1pPr>
            <a:lvl2pPr marL="548640" indent="-274320" algn="l" rtl="0" eaLnBrk="1" latinLnBrk="0" hangingPunct="1">
              <a:spcBef>
                <a:spcPts val="500"/>
              </a:spcBef>
              <a:buClr>
                <a:schemeClr val="accent2"/>
              </a:buClr>
              <a:buSzPct val="76000"/>
              <a:buFont typeface="Wingdings 3"/>
              <a:buNone/>
              <a:defRPr kumimoji="0" sz="1800" kern="1200">
                <a:solidFill>
                  <a:schemeClr val="tx1">
                    <a:tint val="75000"/>
                  </a:schemeClr>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None/>
              <a:defRPr kumimoji="0" sz="1600" kern="1200">
                <a:solidFill>
                  <a:schemeClr val="tx1">
                    <a:tint val="75000"/>
                  </a:schemeClr>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None/>
              <a:defRPr kumimoji="0" sz="1400" kern="1200">
                <a:solidFill>
                  <a:schemeClr val="tx1">
                    <a:tint val="75000"/>
                  </a:schemeClr>
                </a:solidFill>
                <a:latin typeface="+mn-lt"/>
                <a:ea typeface="+mn-ea"/>
                <a:cs typeface="+mn-cs"/>
              </a:defRPr>
            </a:lvl4pPr>
            <a:lvl5pPr marL="1371600" indent="-228600" algn="l" rtl="0" eaLnBrk="1" latinLnBrk="0" hangingPunct="1">
              <a:spcBef>
                <a:spcPts val="300"/>
              </a:spcBef>
              <a:buClr>
                <a:schemeClr val="accent2"/>
              </a:buClr>
              <a:buSzPct val="70000"/>
              <a:buFont typeface="Wingdings"/>
              <a:buNone/>
              <a:defRPr kumimoji="0" sz="1400" kern="1200">
                <a:solidFill>
                  <a:schemeClr val="tx1">
                    <a:tint val="75000"/>
                  </a:schemeClr>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s-AR" dirty="0" smtClean="0"/>
              <a:t>ARNEDO E.</a:t>
            </a:r>
            <a:endParaRPr lang="es-ES" dirty="0"/>
          </a:p>
        </p:txBody>
      </p:sp>
      <p:sp>
        <p:nvSpPr>
          <p:cNvPr id="9" name="2 Marcador de texto"/>
          <p:cNvSpPr txBox="1">
            <a:spLocks/>
          </p:cNvSpPr>
          <p:nvPr/>
        </p:nvSpPr>
        <p:spPr>
          <a:xfrm>
            <a:off x="-4482464" y="6175139"/>
            <a:ext cx="6781800" cy="1143000"/>
          </a:xfrm>
          <a:prstGeom prst="rect">
            <a:avLst/>
          </a:prstGeom>
        </p:spPr>
        <p:txBody>
          <a:bodyPr vert="horz" anchor="t" anchorCtr="0">
            <a:normAutofit/>
          </a:bodyPr>
          <a:lstStyle>
            <a:lvl1pPr marL="0" indent="0" algn="r" rtl="0" eaLnBrk="1" latinLnBrk="0" hangingPunct="1">
              <a:spcBef>
                <a:spcPts val="600"/>
              </a:spcBef>
              <a:buClr>
                <a:schemeClr val="accent1"/>
              </a:buClr>
              <a:buSzPct val="76000"/>
              <a:buFont typeface="Wingdings 3"/>
              <a:buNone/>
              <a:defRPr kumimoji="0" sz="2000" kern="1200">
                <a:solidFill>
                  <a:schemeClr val="tx1">
                    <a:tint val="75000"/>
                  </a:schemeClr>
                </a:solidFill>
                <a:latin typeface="+mn-lt"/>
                <a:ea typeface="+mn-ea"/>
                <a:cs typeface="+mn-cs"/>
              </a:defRPr>
            </a:lvl1pPr>
            <a:lvl2pPr marL="548640" indent="-274320" algn="l" rtl="0" eaLnBrk="1" latinLnBrk="0" hangingPunct="1">
              <a:spcBef>
                <a:spcPts val="500"/>
              </a:spcBef>
              <a:buClr>
                <a:schemeClr val="accent2"/>
              </a:buClr>
              <a:buSzPct val="76000"/>
              <a:buFont typeface="Wingdings 3"/>
              <a:buNone/>
              <a:defRPr kumimoji="0" sz="1800" kern="1200">
                <a:solidFill>
                  <a:schemeClr val="tx1">
                    <a:tint val="75000"/>
                  </a:schemeClr>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None/>
              <a:defRPr kumimoji="0" sz="1600" kern="1200">
                <a:solidFill>
                  <a:schemeClr val="tx1">
                    <a:tint val="75000"/>
                  </a:schemeClr>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None/>
              <a:defRPr kumimoji="0" sz="1400" kern="1200">
                <a:solidFill>
                  <a:schemeClr val="tx1">
                    <a:tint val="75000"/>
                  </a:schemeClr>
                </a:solidFill>
                <a:latin typeface="+mn-lt"/>
                <a:ea typeface="+mn-ea"/>
                <a:cs typeface="+mn-cs"/>
              </a:defRPr>
            </a:lvl4pPr>
            <a:lvl5pPr marL="1371600" indent="-228600" algn="l" rtl="0" eaLnBrk="1" latinLnBrk="0" hangingPunct="1">
              <a:spcBef>
                <a:spcPts val="300"/>
              </a:spcBef>
              <a:buClr>
                <a:schemeClr val="accent2"/>
              </a:buClr>
              <a:buSzPct val="70000"/>
              <a:buFont typeface="Wingdings"/>
              <a:buNone/>
              <a:defRPr kumimoji="0" sz="1400" kern="1200">
                <a:solidFill>
                  <a:schemeClr val="tx1">
                    <a:tint val="75000"/>
                  </a:schemeClr>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s-AR" dirty="0" smtClean="0"/>
              <a:t>DIAZ L. L.</a:t>
            </a:r>
            <a:endParaRPr lang="es-ES" dirty="0"/>
          </a:p>
        </p:txBody>
      </p:sp>
      <p:pic>
        <p:nvPicPr>
          <p:cNvPr id="1026" name="Picture 2" descr="C:\Users\gasto\Downloads\Fausto.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90730" y="4343400"/>
            <a:ext cx="2057161" cy="1868331"/>
          </a:xfrm>
          <a:prstGeom prst="rect">
            <a:avLst/>
          </a:prstGeom>
          <a:noFill/>
          <a:extLst>
            <a:ext uri="{909E8E84-426E-40DD-AFC4-6F175D3DCCD1}">
              <a14:hiddenFill xmlns:a14="http://schemas.microsoft.com/office/drawing/2010/main">
                <a:solidFill>
                  <a:srgbClr val="FFFFFF"/>
                </a:solidFill>
              </a14:hiddenFill>
            </a:ext>
          </a:extLst>
        </p:spPr>
      </p:pic>
      <p:sp>
        <p:nvSpPr>
          <p:cNvPr id="11" name="2 Marcador de texto"/>
          <p:cNvSpPr txBox="1">
            <a:spLocks/>
          </p:cNvSpPr>
          <p:nvPr/>
        </p:nvSpPr>
        <p:spPr>
          <a:xfrm>
            <a:off x="1786455" y="6286500"/>
            <a:ext cx="6781800" cy="1143000"/>
          </a:xfrm>
          <a:prstGeom prst="rect">
            <a:avLst/>
          </a:prstGeom>
        </p:spPr>
        <p:txBody>
          <a:bodyPr vert="horz" anchor="t" anchorCtr="0">
            <a:normAutofit/>
          </a:bodyPr>
          <a:lstStyle>
            <a:lvl1pPr marL="0" indent="0" algn="r" rtl="0" eaLnBrk="1" latinLnBrk="0" hangingPunct="1">
              <a:spcBef>
                <a:spcPts val="600"/>
              </a:spcBef>
              <a:buClr>
                <a:schemeClr val="accent1"/>
              </a:buClr>
              <a:buSzPct val="76000"/>
              <a:buFont typeface="Wingdings 3"/>
              <a:buNone/>
              <a:defRPr kumimoji="0" sz="2000" kern="1200">
                <a:solidFill>
                  <a:schemeClr val="tx1">
                    <a:tint val="75000"/>
                  </a:schemeClr>
                </a:solidFill>
                <a:latin typeface="+mn-lt"/>
                <a:ea typeface="+mn-ea"/>
                <a:cs typeface="+mn-cs"/>
              </a:defRPr>
            </a:lvl1pPr>
            <a:lvl2pPr marL="548640" indent="-274320" algn="l" rtl="0" eaLnBrk="1" latinLnBrk="0" hangingPunct="1">
              <a:spcBef>
                <a:spcPts val="500"/>
              </a:spcBef>
              <a:buClr>
                <a:schemeClr val="accent2"/>
              </a:buClr>
              <a:buSzPct val="76000"/>
              <a:buFont typeface="Wingdings 3"/>
              <a:buNone/>
              <a:defRPr kumimoji="0" sz="1800" kern="1200">
                <a:solidFill>
                  <a:schemeClr val="tx1">
                    <a:tint val="75000"/>
                  </a:schemeClr>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None/>
              <a:defRPr kumimoji="0" sz="1600" kern="1200">
                <a:solidFill>
                  <a:schemeClr val="tx1">
                    <a:tint val="75000"/>
                  </a:schemeClr>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None/>
              <a:defRPr kumimoji="0" sz="1400" kern="1200">
                <a:solidFill>
                  <a:schemeClr val="tx1">
                    <a:tint val="75000"/>
                  </a:schemeClr>
                </a:solidFill>
                <a:latin typeface="+mn-lt"/>
                <a:ea typeface="+mn-ea"/>
                <a:cs typeface="+mn-cs"/>
              </a:defRPr>
            </a:lvl4pPr>
            <a:lvl5pPr marL="1371600" indent="-228600" algn="l" rtl="0" eaLnBrk="1" latinLnBrk="0" hangingPunct="1">
              <a:spcBef>
                <a:spcPts val="300"/>
              </a:spcBef>
              <a:buClr>
                <a:schemeClr val="accent2"/>
              </a:buClr>
              <a:buSzPct val="70000"/>
              <a:buFont typeface="Wingdings"/>
              <a:buNone/>
              <a:defRPr kumimoji="0" sz="1400" kern="1200">
                <a:solidFill>
                  <a:schemeClr val="tx1">
                    <a:tint val="75000"/>
                  </a:schemeClr>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s-AR" dirty="0" smtClean="0"/>
              <a:t>PEREYRA F. H.</a:t>
            </a:r>
            <a:endParaRPr lang="es-ES" dirty="0"/>
          </a:p>
        </p:txBody>
      </p:sp>
    </p:spTree>
    <p:extLst>
      <p:ext uri="{BB962C8B-B14F-4D97-AF65-F5344CB8AC3E}">
        <p14:creationId xmlns:p14="http://schemas.microsoft.com/office/powerpoint/2010/main" val="77759098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CONTENIDO</a:t>
            </a:r>
            <a:endParaRPr lang="es-ES" dirty="0"/>
          </a:p>
        </p:txBody>
      </p:sp>
      <p:sp>
        <p:nvSpPr>
          <p:cNvPr id="3" name="1 Título"/>
          <p:cNvSpPr txBox="1">
            <a:spLocks/>
          </p:cNvSpPr>
          <p:nvPr/>
        </p:nvSpPr>
        <p:spPr>
          <a:xfrm>
            <a:off x="457200" y="1600200"/>
            <a:ext cx="6858000" cy="4038600"/>
          </a:xfrm>
          <a:prstGeom prst="rect">
            <a:avLst/>
          </a:prstGeom>
        </p:spPr>
        <p:txBody>
          <a:bodyPr vert="horz" anchor="b" anchorCtr="0">
            <a:normAutofit/>
          </a:bodyPr>
          <a:lstStyle>
            <a:lvl1pPr algn="l" rtl="0" eaLnBrk="1" latinLnBrk="0" hangingPunct="1">
              <a:spcBef>
                <a:spcPct val="0"/>
              </a:spcBef>
              <a:buNone/>
              <a:defRPr kumimoji="0" sz="3200" kern="1200">
                <a:solidFill>
                  <a:schemeClr val="tx2"/>
                </a:solidFill>
                <a:latin typeface="+mj-lt"/>
                <a:ea typeface="+mj-ea"/>
                <a:cs typeface="+mj-cs"/>
              </a:defRPr>
            </a:lvl1pPr>
          </a:lstStyle>
          <a:p>
            <a:pPr marL="457200" indent="-457200">
              <a:buFont typeface="Wingdings" panose="05000000000000000000" pitchFamily="2" charset="2"/>
              <a:buChar char="q"/>
            </a:pPr>
            <a:r>
              <a:rPr lang="es-AR" dirty="0" smtClean="0"/>
              <a:t>Caso de Estudio</a:t>
            </a:r>
          </a:p>
          <a:p>
            <a:pPr marL="457200" indent="-457200">
              <a:buFont typeface="Wingdings" panose="05000000000000000000" pitchFamily="2" charset="2"/>
              <a:buChar char="q"/>
            </a:pPr>
            <a:r>
              <a:rPr lang="es-AR" dirty="0" smtClean="0"/>
              <a:t>Objetivos</a:t>
            </a:r>
            <a:endParaRPr lang="es-AR" dirty="0"/>
          </a:p>
          <a:p>
            <a:pPr marL="457200" indent="-457200">
              <a:buFont typeface="Wingdings" panose="05000000000000000000" pitchFamily="2" charset="2"/>
              <a:buChar char="q"/>
            </a:pPr>
            <a:r>
              <a:rPr lang="es-AR" dirty="0" smtClean="0"/>
              <a:t>Resolución</a:t>
            </a:r>
          </a:p>
          <a:p>
            <a:r>
              <a:rPr lang="es-AR" dirty="0" smtClean="0"/>
              <a:t>	</a:t>
            </a:r>
            <a:r>
              <a:rPr lang="es-AR" sz="2000" dirty="0" smtClean="0"/>
              <a:t>Objetivo 1</a:t>
            </a:r>
            <a:endParaRPr lang="es-AR" sz="2000" dirty="0"/>
          </a:p>
          <a:p>
            <a:r>
              <a:rPr lang="es-AR" sz="2000" dirty="0" smtClean="0"/>
              <a:t>	Objetivo 2</a:t>
            </a:r>
          </a:p>
          <a:p>
            <a:r>
              <a:rPr lang="es-AR" sz="2000" dirty="0" smtClean="0"/>
              <a:t>	Objetivo 3</a:t>
            </a:r>
            <a:endParaRPr lang="es-AR" sz="2000" dirty="0"/>
          </a:p>
          <a:p>
            <a:r>
              <a:rPr lang="es-AR" sz="2000" dirty="0" smtClean="0"/>
              <a:t>	Objetivo 4</a:t>
            </a:r>
          </a:p>
          <a:p>
            <a:pPr marL="457200" indent="-457200">
              <a:buFont typeface="Wingdings" panose="05000000000000000000" pitchFamily="2" charset="2"/>
              <a:buChar char="q"/>
            </a:pPr>
            <a:r>
              <a:rPr lang="es-AR" dirty="0" smtClean="0"/>
              <a:t>Observaciones</a:t>
            </a:r>
            <a:endParaRPr lang="es-AR" dirty="0"/>
          </a:p>
          <a:p>
            <a:pPr marL="457200" indent="-457200">
              <a:buFont typeface="Wingdings" panose="05000000000000000000" pitchFamily="2" charset="2"/>
              <a:buChar char="q"/>
            </a:pPr>
            <a:r>
              <a:rPr lang="es-AR" dirty="0" smtClean="0"/>
              <a:t>Conclusiones</a:t>
            </a:r>
            <a:endParaRPr lang="es-ES" dirty="0"/>
          </a:p>
        </p:txBody>
      </p:sp>
    </p:spTree>
    <p:extLst>
      <p:ext uri="{BB962C8B-B14F-4D97-AF65-F5344CB8AC3E}">
        <p14:creationId xmlns:p14="http://schemas.microsoft.com/office/powerpoint/2010/main" val="306738087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CASO DE ESTUDIO</a:t>
            </a:r>
            <a:endParaRPr lang="es-ES" dirty="0"/>
          </a:p>
        </p:txBody>
      </p:sp>
      <p:sp>
        <p:nvSpPr>
          <p:cNvPr id="3" name="2 Marcador de texto"/>
          <p:cNvSpPr>
            <a:spLocks noGrp="1"/>
          </p:cNvSpPr>
          <p:nvPr>
            <p:ph type="body" idx="1"/>
          </p:nvPr>
        </p:nvSpPr>
        <p:spPr/>
        <p:txBody>
          <a:bodyPr>
            <a:normAutofit fontScale="92500" lnSpcReduction="10000"/>
          </a:bodyPr>
          <a:lstStyle/>
          <a:p>
            <a:r>
              <a:rPr lang="es-AR" dirty="0" smtClean="0"/>
              <a:t>Para realizar un correcto análisis de las señales cardiacas es necesario proponer un modelo de procesamiento digital de señales que permita obtener una representación confiable de la señal eléctrica del corazón con el mínimo ruido posible.</a:t>
            </a:r>
            <a:endParaRPr lang="es-ES" dirty="0"/>
          </a:p>
        </p:txBody>
      </p:sp>
      <p:pic>
        <p:nvPicPr>
          <p:cNvPr id="3075" name="Picture 3" descr="C:\Users\gasto\Downloads\descarga.jf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21662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7974395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SOLUCION</a:t>
            </a:r>
            <a:endParaRPr lang="es-ES" dirty="0"/>
          </a:p>
        </p:txBody>
      </p:sp>
      <p:sp>
        <p:nvSpPr>
          <p:cNvPr id="3" name="2 Marcador de texto"/>
          <p:cNvSpPr>
            <a:spLocks noGrp="1"/>
          </p:cNvSpPr>
          <p:nvPr>
            <p:ph type="body" idx="1"/>
          </p:nvPr>
        </p:nvSpPr>
        <p:spPr/>
        <p:txBody>
          <a:bodyPr>
            <a:normAutofit/>
          </a:bodyPr>
          <a:lstStyle/>
          <a:p>
            <a:r>
              <a:rPr lang="es-AR" dirty="0" smtClean="0"/>
              <a:t>Implementación de un filtro de fase cero conformado por un filtro pasa-bajos y un filtro ranura valiéndonos de la herramienta de cómputo numérico MATLAB.</a:t>
            </a:r>
            <a:endParaRPr lang="es-ES" dirty="0"/>
          </a:p>
        </p:txBody>
      </p:sp>
      <p:pic>
        <p:nvPicPr>
          <p:cNvPr id="3075" name="Picture 3" descr="C:\Users\gasto\Downloads\descarga.jf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21662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4704401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p:txBody>
          <a:bodyPr/>
          <a:lstStyle/>
          <a:p>
            <a:r>
              <a:rPr lang="es-AR" dirty="0" smtClean="0"/>
              <a:t>ELECTROCARDIÓGRAFO</a:t>
            </a:r>
            <a:endParaRPr lang="es-ES" dirty="0"/>
          </a:p>
        </p:txBody>
      </p:sp>
      <p:sp>
        <p:nvSpPr>
          <p:cNvPr id="3" name="2 Subtítulo"/>
          <p:cNvSpPr>
            <a:spLocks noGrp="1"/>
          </p:cNvSpPr>
          <p:nvPr>
            <p:ph type="subTitle" idx="1"/>
          </p:nvPr>
        </p:nvSpPr>
        <p:spPr/>
        <p:txBody>
          <a:bodyPr/>
          <a:lstStyle/>
          <a:p>
            <a:r>
              <a:rPr lang="es-AR" dirty="0" smtClean="0"/>
              <a:t>Diagrama de bloques del modelo de sistema</a:t>
            </a:r>
            <a:endParaRPr lang="es-ES"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138545"/>
            <a:ext cx="6705600" cy="33057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7336899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ESPECIFICACIONES TÉCNICAS</a:t>
            </a:r>
            <a:endParaRPr lang="es-ES" dirty="0"/>
          </a:p>
        </p:txBody>
      </p:sp>
      <p:sp>
        <p:nvSpPr>
          <p:cNvPr id="3" name="1 Título"/>
          <p:cNvSpPr txBox="1">
            <a:spLocks/>
          </p:cNvSpPr>
          <p:nvPr/>
        </p:nvSpPr>
        <p:spPr>
          <a:xfrm>
            <a:off x="609600" y="1316182"/>
            <a:ext cx="8229600" cy="4779818"/>
          </a:xfrm>
          <a:prstGeom prst="rect">
            <a:avLst/>
          </a:prstGeom>
        </p:spPr>
        <p:txBody>
          <a:bodyPr vert="horz" anchor="b" anchorCtr="0">
            <a:normAutofit fontScale="92500" lnSpcReduction="10000"/>
          </a:bodyPr>
          <a:lstStyle>
            <a:lvl1pPr algn="l" rtl="0" eaLnBrk="1" latinLnBrk="0" hangingPunct="1">
              <a:spcBef>
                <a:spcPct val="0"/>
              </a:spcBef>
              <a:buNone/>
              <a:defRPr kumimoji="0" sz="3200" kern="1200">
                <a:solidFill>
                  <a:schemeClr val="tx2"/>
                </a:solidFill>
                <a:latin typeface="+mj-lt"/>
                <a:ea typeface="+mj-ea"/>
                <a:cs typeface="+mj-cs"/>
              </a:defRPr>
            </a:lvl1pPr>
          </a:lstStyle>
          <a:p>
            <a:pPr marL="457200" indent="-457200">
              <a:buFont typeface="Wingdings" panose="05000000000000000000" pitchFamily="2" charset="2"/>
              <a:buChar char="q"/>
            </a:pPr>
            <a:r>
              <a:rPr lang="es-AR" dirty="0" smtClean="0"/>
              <a:t>La señal ECG contiene valores bajos de frecuencia &lt; 120 [Hz]</a:t>
            </a:r>
          </a:p>
          <a:p>
            <a:endParaRPr lang="es-AR" dirty="0"/>
          </a:p>
          <a:p>
            <a:pPr marL="457200" indent="-457200">
              <a:buFont typeface="Wingdings" panose="05000000000000000000" pitchFamily="2" charset="2"/>
              <a:buChar char="q"/>
            </a:pPr>
            <a:r>
              <a:rPr lang="es-AR" dirty="0" smtClean="0"/>
              <a:t>La frecuencia de muestreo utilizada en el sistema es 800 [Hz]</a:t>
            </a:r>
          </a:p>
          <a:p>
            <a:endParaRPr lang="es-AR" dirty="0"/>
          </a:p>
          <a:p>
            <a:pPr marL="457200" indent="-457200">
              <a:buFont typeface="Wingdings" panose="05000000000000000000" pitchFamily="2" charset="2"/>
              <a:buChar char="q"/>
            </a:pPr>
            <a:r>
              <a:rPr lang="es-AR" dirty="0" smtClean="0"/>
              <a:t>El sistema se implementa con un micro DSP-16 bits</a:t>
            </a:r>
          </a:p>
          <a:p>
            <a:endParaRPr lang="es-AR" dirty="0"/>
          </a:p>
          <a:p>
            <a:pPr marL="457200" indent="-457200">
              <a:buFont typeface="Wingdings" panose="05000000000000000000" pitchFamily="2" charset="2"/>
              <a:buChar char="q"/>
            </a:pPr>
            <a:r>
              <a:rPr lang="es-AR" dirty="0" smtClean="0"/>
              <a:t>Ancho de banda mínimo para filtro ranura </a:t>
            </a:r>
            <a:endParaRPr lang="es-ES" dirty="0"/>
          </a:p>
        </p:txBody>
      </p:sp>
    </p:spTree>
    <p:extLst>
      <p:ext uri="{BB962C8B-B14F-4D97-AF65-F5344CB8AC3E}">
        <p14:creationId xmlns:p14="http://schemas.microsoft.com/office/powerpoint/2010/main" val="296383590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sz="3600" dirty="0" smtClean="0"/>
              <a:t>OBJETIVOS</a:t>
            </a:r>
            <a:endParaRPr lang="es-ES" dirty="0"/>
          </a:p>
        </p:txBody>
      </p:sp>
      <p:sp>
        <p:nvSpPr>
          <p:cNvPr id="4" name="3 Marcador de texto"/>
          <p:cNvSpPr>
            <a:spLocks noGrp="1"/>
          </p:cNvSpPr>
          <p:nvPr>
            <p:ph type="body" sz="half" idx="2"/>
          </p:nvPr>
        </p:nvSpPr>
        <p:spPr>
          <a:xfrm>
            <a:off x="457200" y="1219200"/>
            <a:ext cx="8229600" cy="5029200"/>
          </a:xfrm>
        </p:spPr>
        <p:txBody>
          <a:bodyPr anchor="t">
            <a:normAutofit/>
          </a:bodyPr>
          <a:lstStyle/>
          <a:p>
            <a:pPr marL="514350" indent="-514350">
              <a:buFont typeface="+mj-lt"/>
              <a:buAutoNum type="arabicPeriod"/>
            </a:pPr>
            <a:r>
              <a:rPr lang="es-AR" sz="2800" dirty="0" smtClean="0"/>
              <a:t>¿Por qué el filtro debe ser de fase lineal para no modificar la forma de la señal?</a:t>
            </a:r>
          </a:p>
          <a:p>
            <a:pPr marL="514350" indent="-514350">
              <a:buFont typeface="+mj-lt"/>
              <a:buAutoNum type="arabicPeriod"/>
            </a:pPr>
            <a:endParaRPr lang="es-AR" sz="2000" dirty="0" smtClean="0"/>
          </a:p>
          <a:p>
            <a:pPr marL="514350" indent="-514350">
              <a:buFont typeface="+mj-lt"/>
              <a:buAutoNum type="arabicPeriod"/>
            </a:pPr>
            <a:r>
              <a:rPr lang="es-AR" sz="2800" dirty="0" smtClean="0"/>
              <a:t>Diseño de filtro ranura y filtro pasa-bajos</a:t>
            </a:r>
          </a:p>
          <a:p>
            <a:pPr marL="514350" indent="-514350">
              <a:buFont typeface="+mj-lt"/>
              <a:buAutoNum type="arabicPeriod"/>
            </a:pPr>
            <a:endParaRPr lang="es-AR" sz="2000" dirty="0" smtClean="0"/>
          </a:p>
          <a:p>
            <a:pPr marL="514350" indent="-514350">
              <a:buFont typeface="+mj-lt"/>
              <a:buAutoNum type="arabicPeriod"/>
            </a:pPr>
            <a:r>
              <a:rPr lang="es-AR" sz="2800" dirty="0" smtClean="0"/>
              <a:t>Función en MATLAB que implemente el filtrado de fase cero</a:t>
            </a:r>
          </a:p>
          <a:p>
            <a:pPr marL="514350" indent="-514350">
              <a:buFont typeface="+mj-lt"/>
              <a:buAutoNum type="arabicPeriod"/>
            </a:pPr>
            <a:endParaRPr lang="es-AR" sz="2000" dirty="0"/>
          </a:p>
          <a:p>
            <a:pPr marL="514350" indent="-514350">
              <a:buFont typeface="+mj-lt"/>
              <a:buAutoNum type="arabicPeriod"/>
            </a:pPr>
            <a:r>
              <a:rPr lang="es-AR" sz="2800" dirty="0" smtClean="0"/>
              <a:t> Procesar señales ECG provistas por la cátedra y analizar utilizando la Transformada Rápida de Fourier</a:t>
            </a:r>
            <a:endParaRPr lang="es-ES" sz="2000" dirty="0"/>
          </a:p>
        </p:txBody>
      </p:sp>
    </p:spTree>
    <p:extLst>
      <p:ext uri="{BB962C8B-B14F-4D97-AF65-F5344CB8AC3E}">
        <p14:creationId xmlns:p14="http://schemas.microsoft.com/office/powerpoint/2010/main" val="41952559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¿Por qué filtro de fase lineal?</a:t>
            </a:r>
            <a:endParaRPr lang="es-ES" dirty="0"/>
          </a:p>
        </p:txBody>
      </p:sp>
      <p:sp>
        <p:nvSpPr>
          <p:cNvPr id="3" name="2 Marcador de texto"/>
          <p:cNvSpPr>
            <a:spLocks noGrp="1"/>
          </p:cNvSpPr>
          <p:nvPr>
            <p:ph type="body" idx="1"/>
          </p:nvPr>
        </p:nvSpPr>
        <p:spPr/>
        <p:txBody>
          <a:bodyPr>
            <a:normAutofit/>
          </a:bodyPr>
          <a:lstStyle/>
          <a:p>
            <a:r>
              <a:rPr lang="es-AR" dirty="0" smtClean="0"/>
              <a:t>Los filtros digitales con fase lineal tienen la ventaja de retrasar todos los componentes de frecuencia en la misma cantidad, es decir, conservan las relaciones de fase de la señal de entrada.</a:t>
            </a:r>
            <a:endParaRPr lang="es-ES" dirty="0"/>
          </a:p>
        </p:txBody>
      </p:sp>
      <p:pic>
        <p:nvPicPr>
          <p:cNvPr id="3075" name="Picture 3" descr="C:\Users\gasto\Downloads\descarga.jf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21662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547956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¿Cómo logramos esto?</a:t>
            </a:r>
            <a:endParaRPr lang="es-ES" dirty="0"/>
          </a:p>
        </p:txBody>
      </p:sp>
      <p:sp>
        <p:nvSpPr>
          <p:cNvPr id="3" name="2 Marcador de texto"/>
          <p:cNvSpPr>
            <a:spLocks noGrp="1"/>
          </p:cNvSpPr>
          <p:nvPr>
            <p:ph type="body" idx="1"/>
          </p:nvPr>
        </p:nvSpPr>
        <p:spPr/>
        <p:txBody>
          <a:bodyPr>
            <a:normAutofit fontScale="92500" lnSpcReduction="10000"/>
          </a:bodyPr>
          <a:lstStyle/>
          <a:p>
            <a:r>
              <a:rPr lang="es-AR" dirty="0" smtClean="0"/>
              <a:t>Para lograr retrasos temporales iguales para todas las frecuencias, necesitamos que cada frecuencia tenga un cambio de fase diferente, es decir, un cambio de fase que resulte en el mismo retraso para cada frecuencia.</a:t>
            </a:r>
            <a:endParaRPr lang="es-ES" dirty="0"/>
          </a:p>
        </p:txBody>
      </p:sp>
      <p:pic>
        <p:nvPicPr>
          <p:cNvPr id="3075" name="Picture 3" descr="C:\Users\gasto\Downloads\descarga.jf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21662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547956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p:txBody>
          <a:bodyPr/>
          <a:lstStyle/>
          <a:p>
            <a:r>
              <a:rPr lang="es-AR" dirty="0" smtClean="0"/>
              <a:t>MATEMATICAMENTE…</a:t>
            </a:r>
            <a:endParaRPr lang="es-ES" dirty="0"/>
          </a:p>
        </p:txBody>
      </p:sp>
      <p:sp>
        <p:nvSpPr>
          <p:cNvPr id="3" name="2 Subtítulo"/>
          <p:cNvSpPr>
            <a:spLocks noGrp="1"/>
          </p:cNvSpPr>
          <p:nvPr>
            <p:ph type="subTitle" idx="1"/>
          </p:nvPr>
        </p:nvSpPr>
        <p:spPr/>
        <p:txBody>
          <a:bodyPr/>
          <a:lstStyle/>
          <a:p>
            <a:r>
              <a:rPr lang="es-AR" dirty="0" smtClean="0"/>
              <a:t>Desplazamiento en el tiempo</a:t>
            </a:r>
            <a:endParaRPr lang="es-ES"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8999" y="1066800"/>
            <a:ext cx="7915275" cy="18383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66430278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Diseño del filtro ranura y             filtro pasa-bajos</a:t>
            </a:r>
            <a:endParaRPr lang="es-ES" dirty="0"/>
          </a:p>
        </p:txBody>
      </p:sp>
      <p:sp>
        <p:nvSpPr>
          <p:cNvPr id="3" name="2 Marcador de texto"/>
          <p:cNvSpPr>
            <a:spLocks noGrp="1"/>
          </p:cNvSpPr>
          <p:nvPr>
            <p:ph type="body" idx="1"/>
          </p:nvPr>
        </p:nvSpPr>
        <p:spPr/>
        <p:txBody>
          <a:bodyPr>
            <a:normAutofit/>
          </a:bodyPr>
          <a:lstStyle/>
          <a:p>
            <a:r>
              <a:rPr lang="es-AR" dirty="0" smtClean="0"/>
              <a:t>Se propone como solución la implementación de filtros recursivos. Cada filtro se define por los coeficientes de la ecuación de recurrencia.</a:t>
            </a:r>
            <a:endParaRPr lang="es-ES" dirty="0"/>
          </a:p>
        </p:txBody>
      </p:sp>
      <p:pic>
        <p:nvPicPr>
          <p:cNvPr id="3075" name="Picture 3" descr="C:\Users\gasto\Downloads\descarga.jf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21662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7809642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p:txBody>
          <a:bodyPr/>
          <a:lstStyle/>
          <a:p>
            <a:r>
              <a:rPr lang="es-AR" dirty="0" smtClean="0"/>
              <a:t>MATEMATICAMENTE…</a:t>
            </a:r>
            <a:endParaRPr lang="es-ES" dirty="0"/>
          </a:p>
        </p:txBody>
      </p:sp>
      <p:sp>
        <p:nvSpPr>
          <p:cNvPr id="3" name="2 Subtítulo"/>
          <p:cNvSpPr>
            <a:spLocks noGrp="1"/>
          </p:cNvSpPr>
          <p:nvPr>
            <p:ph type="subTitle" idx="1"/>
          </p:nvPr>
        </p:nvSpPr>
        <p:spPr/>
        <p:txBody>
          <a:bodyPr/>
          <a:lstStyle/>
          <a:p>
            <a:r>
              <a:rPr lang="es-AR" dirty="0" smtClean="0"/>
              <a:t>Ecuación de recurrencia</a:t>
            </a:r>
            <a:endParaRPr lang="es-ES" dirty="0"/>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1107141"/>
            <a:ext cx="9144000" cy="5378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1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 y="1828800"/>
            <a:ext cx="8991600" cy="74205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69242684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FILTRO RANURA</a:t>
            </a:r>
            <a:endParaRPr lang="es-ES" dirty="0"/>
          </a:p>
        </p:txBody>
      </p:sp>
      <mc:AlternateContent xmlns:mc="http://schemas.openxmlformats.org/markup-compatibility/2006" xmlns:a14="http://schemas.microsoft.com/office/drawing/2010/main">
        <mc:Choice Requires="a14">
          <p:sp>
            <p:nvSpPr>
              <p:cNvPr id="3" name="1 Título"/>
              <p:cNvSpPr txBox="1">
                <a:spLocks/>
              </p:cNvSpPr>
              <p:nvPr/>
            </p:nvSpPr>
            <p:spPr>
              <a:xfrm>
                <a:off x="609600" y="1316182"/>
                <a:ext cx="8229600" cy="4779818"/>
              </a:xfrm>
              <a:prstGeom prst="rect">
                <a:avLst/>
              </a:prstGeom>
            </p:spPr>
            <p:txBody>
              <a:bodyPr vert="horz" anchor="b" anchorCtr="0">
                <a:normAutofit/>
              </a:bodyPr>
              <a:lstStyle>
                <a:lvl1pPr algn="l" rtl="0" eaLnBrk="1" latinLnBrk="0" hangingPunct="1">
                  <a:spcBef>
                    <a:spcPct val="0"/>
                  </a:spcBef>
                  <a:buNone/>
                  <a:defRPr kumimoji="0" sz="3200" kern="1200">
                    <a:solidFill>
                      <a:schemeClr val="tx2"/>
                    </a:solidFill>
                    <a:latin typeface="+mj-lt"/>
                    <a:ea typeface="+mj-ea"/>
                    <a:cs typeface="+mj-cs"/>
                  </a:defRPr>
                </a:lvl1pPr>
              </a:lstStyle>
              <a:p>
                <a:pPr marL="457200" indent="-457200">
                  <a:buFont typeface="Wingdings" panose="05000000000000000000" pitchFamily="2" charset="2"/>
                  <a:buChar char="q"/>
                </a:pPr>
                <a:r>
                  <a:rPr lang="es-AR" dirty="0" smtClean="0"/>
                  <a:t>Frecuencia central </a:t>
                </a:r>
                <a14:m>
                  <m:oMath xmlns:m="http://schemas.openxmlformats.org/officeDocument/2006/math">
                    <m:sSub>
                      <m:sSubPr>
                        <m:ctrlPr>
                          <a:rPr lang="es-AR" b="0" i="1" smtClean="0">
                            <a:latin typeface="Cambria Math"/>
                          </a:rPr>
                        </m:ctrlPr>
                      </m:sSubPr>
                      <m:e>
                        <m:r>
                          <a:rPr lang="es-AR" b="0" i="1" smtClean="0">
                            <a:latin typeface="Cambria Math"/>
                          </a:rPr>
                          <m:t>𝑓</m:t>
                        </m:r>
                      </m:e>
                      <m:sub>
                        <m:r>
                          <a:rPr lang="es-AR" b="0" i="1" smtClean="0">
                            <a:latin typeface="Cambria Math"/>
                          </a:rPr>
                          <m:t>𝑐</m:t>
                        </m:r>
                      </m:sub>
                    </m:sSub>
                    <m:r>
                      <a:rPr lang="es-AR" b="0" i="1" smtClean="0">
                        <a:latin typeface="Cambria Math"/>
                      </a:rPr>
                      <m:t>=50 [</m:t>
                    </m:r>
                    <m:r>
                      <a:rPr lang="es-AR" b="0" i="1" smtClean="0">
                        <a:latin typeface="Cambria Math"/>
                      </a:rPr>
                      <m:t>𝐻𝑧</m:t>
                    </m:r>
                    <m:r>
                      <a:rPr lang="es-AR" b="0" i="1" smtClean="0">
                        <a:latin typeface="Cambria Math"/>
                      </a:rPr>
                      <m:t>]</m:t>
                    </m:r>
                  </m:oMath>
                </a14:m>
                <a:endParaRPr lang="es-AR" dirty="0"/>
              </a:p>
              <a:p>
                <a:pPr marL="457200" indent="-457200">
                  <a:buFont typeface="Wingdings" panose="05000000000000000000" pitchFamily="2" charset="2"/>
                  <a:buChar char="q"/>
                </a:pPr>
                <a:r>
                  <a:rPr lang="es-AR" dirty="0" smtClean="0"/>
                  <a:t>Frecuencia de muestreo </a:t>
                </a:r>
                <a14:m>
                  <m:oMath xmlns:m="http://schemas.openxmlformats.org/officeDocument/2006/math">
                    <m:sSub>
                      <m:sSubPr>
                        <m:ctrlPr>
                          <a:rPr lang="es-AR" b="0" i="1" smtClean="0">
                            <a:latin typeface="Cambria Math"/>
                          </a:rPr>
                        </m:ctrlPr>
                      </m:sSubPr>
                      <m:e>
                        <m:r>
                          <a:rPr lang="es-AR" b="0" i="1" smtClean="0">
                            <a:latin typeface="Cambria Math"/>
                          </a:rPr>
                          <m:t>𝑓</m:t>
                        </m:r>
                      </m:e>
                      <m:sub>
                        <m:r>
                          <a:rPr lang="es-AR" b="0" i="1" smtClean="0">
                            <a:latin typeface="Cambria Math"/>
                          </a:rPr>
                          <m:t>𝑠</m:t>
                        </m:r>
                      </m:sub>
                    </m:sSub>
                    <m:r>
                      <a:rPr lang="es-AR" b="0" i="1" smtClean="0">
                        <a:latin typeface="Cambria Math"/>
                      </a:rPr>
                      <m:t>=800 [</m:t>
                    </m:r>
                    <m:r>
                      <a:rPr lang="es-AR" b="0" i="1" smtClean="0">
                        <a:latin typeface="Cambria Math"/>
                      </a:rPr>
                      <m:t>𝐻𝑧</m:t>
                    </m:r>
                    <m:r>
                      <a:rPr lang="es-AR" b="0" i="1" smtClean="0">
                        <a:latin typeface="Cambria Math"/>
                      </a:rPr>
                      <m:t>]</m:t>
                    </m:r>
                  </m:oMath>
                </a14:m>
                <a:endParaRPr lang="es-AR" dirty="0"/>
              </a:p>
              <a:p>
                <a:pPr marL="457200" indent="-457200">
                  <a:buFont typeface="Wingdings" panose="05000000000000000000" pitchFamily="2" charset="2"/>
                  <a:buChar char="q"/>
                </a:pPr>
                <a:r>
                  <a:rPr lang="es-AR" dirty="0" smtClean="0"/>
                  <a:t>Ancho de banda </a:t>
                </a:r>
                <a14:m>
                  <m:oMath xmlns:m="http://schemas.openxmlformats.org/officeDocument/2006/math">
                    <m:r>
                      <a:rPr lang="es-AR" b="0" i="1" smtClean="0">
                        <a:latin typeface="Cambria Math"/>
                      </a:rPr>
                      <m:t>𝐴𝐵</m:t>
                    </m:r>
                    <m:r>
                      <a:rPr lang="es-AR" b="0" i="1" smtClean="0">
                        <a:latin typeface="Cambria Math"/>
                      </a:rPr>
                      <m:t>=12 </m:t>
                    </m:r>
                    <m:d>
                      <m:dPr>
                        <m:begChr m:val="["/>
                        <m:endChr m:val="]"/>
                        <m:ctrlPr>
                          <a:rPr lang="es-AR" b="0" i="1" smtClean="0">
                            <a:latin typeface="Cambria Math"/>
                          </a:rPr>
                        </m:ctrlPr>
                      </m:dPr>
                      <m:e>
                        <m:r>
                          <a:rPr lang="es-AR" b="0" i="1" smtClean="0">
                            <a:latin typeface="Cambria Math"/>
                          </a:rPr>
                          <m:t>𝐻𝑧</m:t>
                        </m:r>
                      </m:e>
                    </m:d>
                  </m:oMath>
                </a14:m>
                <a:endParaRPr lang="es-AR" b="0" dirty="0" smtClean="0"/>
              </a:p>
              <a:p>
                <a:pPr marL="457200" indent="-457200">
                  <a:buFont typeface="Wingdings" panose="05000000000000000000" pitchFamily="2" charset="2"/>
                  <a:buChar char="q"/>
                </a:pPr>
                <a:r>
                  <a:rPr lang="es-AR" dirty="0" smtClean="0"/>
                  <a:t>Radio círculo unitario </a:t>
                </a:r>
                <a14:m>
                  <m:oMath xmlns:m="http://schemas.openxmlformats.org/officeDocument/2006/math">
                    <m:r>
                      <a:rPr lang="es-AR" b="0" i="1" smtClean="0">
                        <a:latin typeface="Cambria Math"/>
                      </a:rPr>
                      <m:t>𝑟</m:t>
                    </m:r>
                    <m:r>
                      <a:rPr lang="es-AR" b="0" i="1" smtClean="0">
                        <a:latin typeface="Cambria Math"/>
                      </a:rPr>
                      <m:t>=0.95</m:t>
                    </m:r>
                  </m:oMath>
                </a14:m>
                <a:endParaRPr lang="es-AR" dirty="0"/>
              </a:p>
              <a:p>
                <a:pPr marL="457200" indent="-457200">
                  <a:buFont typeface="Wingdings" panose="05000000000000000000" pitchFamily="2" charset="2"/>
                  <a:buChar char="q"/>
                </a:pPr>
                <a:r>
                  <a:rPr lang="es-AR" dirty="0" smtClean="0"/>
                  <a:t>Ganancia de filtro </a:t>
                </a:r>
                <a14:m>
                  <m:oMath xmlns:m="http://schemas.openxmlformats.org/officeDocument/2006/math">
                    <m:r>
                      <a:rPr lang="es-AR" b="0" i="1" smtClean="0">
                        <a:latin typeface="Cambria Math"/>
                      </a:rPr>
                      <m:t>𝐾</m:t>
                    </m:r>
                    <m:r>
                      <a:rPr lang="es-AR" b="0" i="1" smtClean="0">
                        <a:latin typeface="Cambria Math"/>
                      </a:rPr>
                      <m:t>=1</m:t>
                    </m:r>
                  </m:oMath>
                </a14:m>
                <a:endParaRPr lang="es-AR" b="0" dirty="0" smtClean="0"/>
              </a:p>
              <a:p>
                <a:pPr marL="457200" indent="-457200">
                  <a:buFont typeface="Wingdings" panose="05000000000000000000" pitchFamily="2" charset="2"/>
                  <a:buChar char="q"/>
                </a:pPr>
                <a:endParaRPr lang="es-AR" dirty="0" smtClean="0"/>
              </a:p>
              <a:p>
                <a:r>
                  <a:rPr lang="es-AR" dirty="0" smtClean="0"/>
                  <a:t> </a:t>
                </a:r>
                <a:endParaRPr lang="es-ES" dirty="0"/>
              </a:p>
            </p:txBody>
          </p:sp>
        </mc:Choice>
        <mc:Fallback xmlns="">
          <p:sp>
            <p:nvSpPr>
              <p:cNvPr id="3" name="1 Título"/>
              <p:cNvSpPr txBox="1">
                <a:spLocks noRot="1" noChangeAspect="1" noMove="1" noResize="1" noEditPoints="1" noAdjustHandles="1" noChangeArrowheads="1" noChangeShapeType="1" noTextEdit="1"/>
              </p:cNvSpPr>
              <p:nvPr/>
            </p:nvSpPr>
            <p:spPr>
              <a:xfrm>
                <a:off x="609600" y="1316182"/>
                <a:ext cx="8229600" cy="4779818"/>
              </a:xfrm>
              <a:prstGeom prst="rect">
                <a:avLst/>
              </a:prstGeom>
              <a:blipFill rotWithShape="1">
                <a:blip r:embed="rId2"/>
                <a:stretch>
                  <a:fillRect l="-1630"/>
                </a:stretch>
              </a:blipFill>
            </p:spPr>
            <p:txBody>
              <a:bodyPr/>
              <a:lstStyle/>
              <a:p>
                <a:r>
                  <a:rPr lang="es-ES">
                    <a:noFill/>
                  </a:rPr>
                  <a:t> </a:t>
                </a:r>
              </a:p>
            </p:txBody>
          </p:sp>
        </mc:Fallback>
      </mc:AlternateContent>
    </p:spTree>
    <p:extLst>
      <p:ext uri="{BB962C8B-B14F-4D97-AF65-F5344CB8AC3E}">
        <p14:creationId xmlns:p14="http://schemas.microsoft.com/office/powerpoint/2010/main" val="90295392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FILTRO RANURA</a:t>
            </a:r>
            <a:endParaRPr lang="es-ES" dirty="0"/>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1" y="1371601"/>
            <a:ext cx="4078224" cy="762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17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2391" y="2895600"/>
            <a:ext cx="3783043" cy="62180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173"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8630" y="4648200"/>
            <a:ext cx="3450564" cy="6306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5" name="4 Conector recto de flecha"/>
          <p:cNvCxnSpPr>
            <a:stCxn id="7172" idx="2"/>
            <a:endCxn id="7173" idx="0"/>
          </p:cNvCxnSpPr>
          <p:nvPr/>
        </p:nvCxnSpPr>
        <p:spPr>
          <a:xfrm flipH="1">
            <a:off x="2343912" y="3517405"/>
            <a:ext cx="1" cy="1130795"/>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10" name="2 Subtítulo"/>
          <p:cNvSpPr txBox="1">
            <a:spLocks/>
          </p:cNvSpPr>
          <p:nvPr/>
        </p:nvSpPr>
        <p:spPr>
          <a:xfrm>
            <a:off x="5257800" y="1600201"/>
            <a:ext cx="6858000" cy="533400"/>
          </a:xfrm>
          <a:prstGeom prst="rect">
            <a:avLst/>
          </a:prstGeom>
        </p:spPr>
        <p:txBody>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s-AR" dirty="0" smtClean="0"/>
              <a:t>Polos y ceros</a:t>
            </a:r>
            <a:endParaRPr lang="es-ES" dirty="0"/>
          </a:p>
        </p:txBody>
      </p:sp>
      <p:pic>
        <p:nvPicPr>
          <p:cNvPr id="1026"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84104" y="2260930"/>
            <a:ext cx="4762576" cy="36437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5528455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FILTRO RANURA</a:t>
            </a:r>
            <a:endParaRPr lang="es-ES" dirty="0"/>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2992582"/>
            <a:ext cx="6067425" cy="11906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4042219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FILTRO RANURA</a:t>
            </a:r>
            <a:endParaRPr lang="es-ES" dirty="0"/>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3963" y="1380299"/>
            <a:ext cx="8915400" cy="475769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2 Subtítulo"/>
          <p:cNvSpPr txBox="1">
            <a:spLocks/>
          </p:cNvSpPr>
          <p:nvPr/>
        </p:nvSpPr>
        <p:spPr>
          <a:xfrm>
            <a:off x="914400" y="6343650"/>
            <a:ext cx="6858000" cy="533400"/>
          </a:xfrm>
          <a:prstGeom prst="rect">
            <a:avLst/>
          </a:prstGeom>
        </p:spPr>
        <p:txBody>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s-AR" dirty="0" smtClean="0"/>
              <a:t>Respuesta en amplitud</a:t>
            </a:r>
            <a:endParaRPr lang="es-ES" dirty="0"/>
          </a:p>
        </p:txBody>
      </p:sp>
    </p:spTree>
    <p:extLst>
      <p:ext uri="{BB962C8B-B14F-4D97-AF65-F5344CB8AC3E}">
        <p14:creationId xmlns:p14="http://schemas.microsoft.com/office/powerpoint/2010/main" val="44106893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FILTRO RANURA</a:t>
            </a:r>
            <a:endParaRPr lang="es-ES" dirty="0"/>
          </a:p>
        </p:txBody>
      </p:sp>
      <p:sp>
        <p:nvSpPr>
          <p:cNvPr id="5" name="2 Subtítulo"/>
          <p:cNvSpPr txBox="1">
            <a:spLocks/>
          </p:cNvSpPr>
          <p:nvPr/>
        </p:nvSpPr>
        <p:spPr>
          <a:xfrm>
            <a:off x="914400" y="6343650"/>
            <a:ext cx="6858000" cy="533400"/>
          </a:xfrm>
          <a:prstGeom prst="rect">
            <a:avLst/>
          </a:prstGeom>
        </p:spPr>
        <p:txBody>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s-AR" dirty="0" smtClean="0"/>
              <a:t>Corrección</a:t>
            </a:r>
            <a:endParaRPr lang="es-ES"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3215552"/>
            <a:ext cx="5086350" cy="2486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86520" y="1600200"/>
            <a:ext cx="5495925"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2509351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FILTRO RANURA</a:t>
            </a:r>
            <a:endParaRPr lang="es-ES" dirty="0"/>
          </a:p>
        </p:txBody>
      </p:sp>
      <p:sp>
        <p:nvSpPr>
          <p:cNvPr id="5" name="2 Subtítulo"/>
          <p:cNvSpPr txBox="1">
            <a:spLocks/>
          </p:cNvSpPr>
          <p:nvPr/>
        </p:nvSpPr>
        <p:spPr>
          <a:xfrm>
            <a:off x="914400" y="6343650"/>
            <a:ext cx="6858000" cy="533400"/>
          </a:xfrm>
          <a:prstGeom prst="rect">
            <a:avLst/>
          </a:prstGeom>
        </p:spPr>
        <p:txBody>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s-AR" dirty="0" smtClean="0"/>
              <a:t>Corrección</a:t>
            </a:r>
            <a:endParaRPr lang="es-ES"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1579418"/>
            <a:ext cx="6868160" cy="99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2570018"/>
            <a:ext cx="3733800" cy="36287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84808" y="2819400"/>
            <a:ext cx="3095625" cy="2100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1"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62400" y="5167313"/>
            <a:ext cx="4287273" cy="10314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136755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FILTRO RANURA</a:t>
            </a:r>
            <a:endParaRPr lang="es-ES" dirty="0"/>
          </a:p>
        </p:txBody>
      </p:sp>
      <p:sp>
        <p:nvSpPr>
          <p:cNvPr id="5" name="2 Subtítulo"/>
          <p:cNvSpPr txBox="1">
            <a:spLocks/>
          </p:cNvSpPr>
          <p:nvPr/>
        </p:nvSpPr>
        <p:spPr>
          <a:xfrm>
            <a:off x="914400" y="6343650"/>
            <a:ext cx="6858000" cy="533400"/>
          </a:xfrm>
          <a:prstGeom prst="rect">
            <a:avLst/>
          </a:prstGeom>
        </p:spPr>
        <p:txBody>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s-AR" dirty="0" smtClean="0"/>
              <a:t>Respuesta en amplitud</a:t>
            </a:r>
            <a:endParaRPr lang="es-E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371600"/>
            <a:ext cx="8748061" cy="464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0839187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FILTRO RANURA</a:t>
            </a:r>
            <a:endParaRPr lang="es-ES" dirty="0"/>
          </a:p>
        </p:txBody>
      </p:sp>
      <p:sp>
        <p:nvSpPr>
          <p:cNvPr id="5" name="2 Subtítulo"/>
          <p:cNvSpPr txBox="1">
            <a:spLocks/>
          </p:cNvSpPr>
          <p:nvPr/>
        </p:nvSpPr>
        <p:spPr>
          <a:xfrm>
            <a:off x="914400" y="6343650"/>
            <a:ext cx="6858000" cy="533400"/>
          </a:xfrm>
          <a:prstGeom prst="rect">
            <a:avLst/>
          </a:prstGeom>
        </p:spPr>
        <p:txBody>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s-AR" dirty="0" smtClean="0"/>
              <a:t>Respuesta en fase</a:t>
            </a:r>
            <a:endParaRPr lang="es-ES" dirty="0"/>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 y="1371600"/>
            <a:ext cx="8911919" cy="47386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9634963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FILTRO PASA-BAJOS</a:t>
            </a:r>
            <a:endParaRPr lang="es-ES" dirty="0"/>
          </a:p>
        </p:txBody>
      </p:sp>
      <mc:AlternateContent xmlns:mc="http://schemas.openxmlformats.org/markup-compatibility/2006" xmlns:a14="http://schemas.microsoft.com/office/drawing/2010/main">
        <mc:Choice Requires="a14">
          <p:sp>
            <p:nvSpPr>
              <p:cNvPr id="3" name="1 Título"/>
              <p:cNvSpPr txBox="1">
                <a:spLocks/>
              </p:cNvSpPr>
              <p:nvPr/>
            </p:nvSpPr>
            <p:spPr>
              <a:xfrm>
                <a:off x="609600" y="1316182"/>
                <a:ext cx="8229600" cy="4779818"/>
              </a:xfrm>
              <a:prstGeom prst="rect">
                <a:avLst/>
              </a:prstGeom>
            </p:spPr>
            <p:txBody>
              <a:bodyPr vert="horz" anchor="b" anchorCtr="0">
                <a:normAutofit/>
              </a:bodyPr>
              <a:lstStyle>
                <a:lvl1pPr algn="l" rtl="0" eaLnBrk="1" latinLnBrk="0" hangingPunct="1">
                  <a:spcBef>
                    <a:spcPct val="0"/>
                  </a:spcBef>
                  <a:buNone/>
                  <a:defRPr kumimoji="0" sz="3200" kern="1200">
                    <a:solidFill>
                      <a:schemeClr val="tx2"/>
                    </a:solidFill>
                    <a:latin typeface="+mj-lt"/>
                    <a:ea typeface="+mj-ea"/>
                    <a:cs typeface="+mj-cs"/>
                  </a:defRPr>
                </a:lvl1pPr>
              </a:lstStyle>
              <a:p>
                <a:pPr marL="457200" indent="-457200">
                  <a:buFont typeface="Wingdings" panose="05000000000000000000" pitchFamily="2" charset="2"/>
                  <a:buChar char="q"/>
                </a:pPr>
                <a:r>
                  <a:rPr lang="es-AR" dirty="0" smtClean="0"/>
                  <a:t>Frecuencia de corte </a:t>
                </a:r>
                <a14:m>
                  <m:oMath xmlns:m="http://schemas.openxmlformats.org/officeDocument/2006/math">
                    <m:sSub>
                      <m:sSubPr>
                        <m:ctrlPr>
                          <a:rPr lang="es-AR" b="0" i="1" smtClean="0">
                            <a:latin typeface="Cambria Math"/>
                          </a:rPr>
                        </m:ctrlPr>
                      </m:sSubPr>
                      <m:e>
                        <m:r>
                          <a:rPr lang="es-AR" b="0" i="1" smtClean="0">
                            <a:latin typeface="Cambria Math"/>
                          </a:rPr>
                          <m:t>𝑓</m:t>
                        </m:r>
                      </m:e>
                      <m:sub>
                        <m:r>
                          <a:rPr lang="es-AR" b="0" i="1" smtClean="0">
                            <a:latin typeface="Cambria Math"/>
                          </a:rPr>
                          <m:t>𝑐</m:t>
                        </m:r>
                      </m:sub>
                    </m:sSub>
                    <m:r>
                      <a:rPr lang="es-AR" b="0" i="1" smtClean="0">
                        <a:latin typeface="Cambria Math"/>
                      </a:rPr>
                      <m:t>=120 [</m:t>
                    </m:r>
                    <m:r>
                      <a:rPr lang="es-AR" b="0" i="1" smtClean="0">
                        <a:latin typeface="Cambria Math"/>
                      </a:rPr>
                      <m:t>𝐻𝑧</m:t>
                    </m:r>
                    <m:r>
                      <a:rPr lang="es-AR" b="0" i="1" smtClean="0">
                        <a:latin typeface="Cambria Math"/>
                      </a:rPr>
                      <m:t>]</m:t>
                    </m:r>
                  </m:oMath>
                </a14:m>
                <a:endParaRPr lang="es-AR" dirty="0"/>
              </a:p>
              <a:p>
                <a:pPr marL="457200" indent="-457200">
                  <a:buFont typeface="Wingdings" panose="05000000000000000000" pitchFamily="2" charset="2"/>
                  <a:buChar char="q"/>
                </a:pPr>
                <a:r>
                  <a:rPr lang="es-AR" dirty="0" smtClean="0"/>
                  <a:t>Frecuencia de muestreo </a:t>
                </a:r>
                <a14:m>
                  <m:oMath xmlns:m="http://schemas.openxmlformats.org/officeDocument/2006/math">
                    <m:sSub>
                      <m:sSubPr>
                        <m:ctrlPr>
                          <a:rPr lang="es-AR" b="0" i="1" smtClean="0">
                            <a:latin typeface="Cambria Math"/>
                          </a:rPr>
                        </m:ctrlPr>
                      </m:sSubPr>
                      <m:e>
                        <m:r>
                          <a:rPr lang="es-AR" b="0" i="1" smtClean="0">
                            <a:latin typeface="Cambria Math"/>
                          </a:rPr>
                          <m:t>𝑓</m:t>
                        </m:r>
                      </m:e>
                      <m:sub>
                        <m:r>
                          <a:rPr lang="es-AR" b="0" i="1" smtClean="0">
                            <a:latin typeface="Cambria Math"/>
                          </a:rPr>
                          <m:t>𝑠</m:t>
                        </m:r>
                      </m:sub>
                    </m:sSub>
                    <m:r>
                      <a:rPr lang="es-AR" b="0" i="1" smtClean="0">
                        <a:latin typeface="Cambria Math"/>
                      </a:rPr>
                      <m:t>=800 [</m:t>
                    </m:r>
                    <m:r>
                      <a:rPr lang="es-AR" b="0" i="1" smtClean="0">
                        <a:latin typeface="Cambria Math"/>
                      </a:rPr>
                      <m:t>𝐻𝑧</m:t>
                    </m:r>
                    <m:r>
                      <a:rPr lang="es-AR" b="0" i="1" smtClean="0">
                        <a:latin typeface="Cambria Math"/>
                      </a:rPr>
                      <m:t>]</m:t>
                    </m:r>
                  </m:oMath>
                </a14:m>
                <a:endParaRPr lang="es-AR" dirty="0"/>
              </a:p>
              <a:p>
                <a:pPr marL="457200" indent="-457200">
                  <a:buFont typeface="Wingdings" panose="05000000000000000000" pitchFamily="2" charset="2"/>
                  <a:buChar char="q"/>
                </a:pPr>
                <a:r>
                  <a:rPr lang="es-AR" dirty="0"/>
                  <a:t>A</a:t>
                </a:r>
                <a:r>
                  <a:rPr lang="es-AR" dirty="0" smtClean="0"/>
                  <a:t>tenuación </a:t>
                </a:r>
                <a14:m>
                  <m:oMath xmlns:m="http://schemas.openxmlformats.org/officeDocument/2006/math">
                    <m:r>
                      <a:rPr lang="es-AR" b="0" i="0" smtClean="0">
                        <a:latin typeface="Cambria Math"/>
                      </a:rPr>
                      <m:t>&gt;10[</m:t>
                    </m:r>
                    <m:r>
                      <m:rPr>
                        <m:sty m:val="p"/>
                      </m:rPr>
                      <a:rPr lang="es-AR" b="0" i="0" smtClean="0">
                        <a:latin typeface="Cambria Math"/>
                      </a:rPr>
                      <m:t>dB</m:t>
                    </m:r>
                    <m:r>
                      <a:rPr lang="es-AR" b="0" i="0" smtClean="0">
                        <a:latin typeface="Cambria Math"/>
                      </a:rPr>
                      <m:t>]</m:t>
                    </m:r>
                  </m:oMath>
                </a14:m>
                <a:r>
                  <a:rPr lang="es-AR" b="0" dirty="0" smtClean="0"/>
                  <a:t> para </a:t>
                </a:r>
                <a14:m>
                  <m:oMath xmlns:m="http://schemas.openxmlformats.org/officeDocument/2006/math">
                    <m:r>
                      <a:rPr lang="es-AR" b="0" i="1" smtClean="0">
                        <a:latin typeface="Cambria Math"/>
                      </a:rPr>
                      <m:t>𝑓</m:t>
                    </m:r>
                    <m:r>
                      <a:rPr lang="es-AR" b="0" i="1" smtClean="0">
                        <a:latin typeface="Cambria Math"/>
                      </a:rPr>
                      <m:t>&gt;200 [</m:t>
                    </m:r>
                    <m:r>
                      <a:rPr lang="es-AR" b="0" i="1" smtClean="0">
                        <a:latin typeface="Cambria Math"/>
                      </a:rPr>
                      <m:t>𝐻𝑧</m:t>
                    </m:r>
                    <m:r>
                      <a:rPr lang="es-AR" b="0" i="1" smtClean="0">
                        <a:latin typeface="Cambria Math"/>
                      </a:rPr>
                      <m:t>]</m:t>
                    </m:r>
                  </m:oMath>
                </a14:m>
                <a:endParaRPr lang="es-AR" b="0" dirty="0" smtClean="0"/>
              </a:p>
              <a:p>
                <a:pPr marL="457200" indent="-457200">
                  <a:buFont typeface="Wingdings" panose="05000000000000000000" pitchFamily="2" charset="2"/>
                  <a:buChar char="q"/>
                </a:pPr>
                <a:endParaRPr lang="es-AR" dirty="0"/>
              </a:p>
              <a:p>
                <a:pPr marL="457200" indent="-457200">
                  <a:buFont typeface="Wingdings" panose="05000000000000000000" pitchFamily="2" charset="2"/>
                  <a:buChar char="q"/>
                </a:pPr>
                <a:endParaRPr lang="es-AR" dirty="0" smtClean="0"/>
              </a:p>
              <a:p>
                <a:pPr marL="457200" indent="-457200">
                  <a:buFont typeface="Wingdings" panose="05000000000000000000" pitchFamily="2" charset="2"/>
                  <a:buChar char="q"/>
                </a:pPr>
                <a:endParaRPr lang="es-AR" dirty="0" smtClean="0"/>
              </a:p>
              <a:p>
                <a:r>
                  <a:rPr lang="es-AR" dirty="0" smtClean="0"/>
                  <a:t> </a:t>
                </a:r>
                <a:endParaRPr lang="es-ES" dirty="0"/>
              </a:p>
            </p:txBody>
          </p:sp>
        </mc:Choice>
        <mc:Fallback xmlns="">
          <p:sp>
            <p:nvSpPr>
              <p:cNvPr id="3" name="1 Título"/>
              <p:cNvSpPr txBox="1">
                <a:spLocks noRot="1" noChangeAspect="1" noMove="1" noResize="1" noEditPoints="1" noAdjustHandles="1" noChangeArrowheads="1" noChangeShapeType="1" noTextEdit="1"/>
              </p:cNvSpPr>
              <p:nvPr/>
            </p:nvSpPr>
            <p:spPr>
              <a:xfrm>
                <a:off x="609600" y="1316182"/>
                <a:ext cx="8229600" cy="4779818"/>
              </a:xfrm>
              <a:prstGeom prst="rect">
                <a:avLst/>
              </a:prstGeom>
              <a:blipFill rotWithShape="1">
                <a:blip r:embed="rId2"/>
                <a:stretch>
                  <a:fillRect l="-1630"/>
                </a:stretch>
              </a:blipFill>
            </p:spPr>
            <p:txBody>
              <a:bodyPr/>
              <a:lstStyle/>
              <a:p>
                <a:r>
                  <a:rPr lang="es-ES">
                    <a:noFill/>
                  </a:rPr>
                  <a:t> </a:t>
                </a:r>
              </a:p>
            </p:txBody>
          </p:sp>
        </mc:Fallback>
      </mc:AlternateContent>
    </p:spTree>
    <p:extLst>
      <p:ext uri="{BB962C8B-B14F-4D97-AF65-F5344CB8AC3E}">
        <p14:creationId xmlns:p14="http://schemas.microsoft.com/office/powerpoint/2010/main" val="249347746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FILTRO PASA-BAJOS</a:t>
            </a:r>
            <a:endParaRPr lang="es-ES" dirty="0"/>
          </a:p>
        </p:txBody>
      </p:sp>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350690"/>
            <a:ext cx="8610600" cy="23723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26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8655" y="3702296"/>
            <a:ext cx="8139545" cy="2311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28023921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FILTRO PASA-BAJOS</a:t>
            </a:r>
            <a:endParaRPr lang="es-ES" dirty="0"/>
          </a:p>
        </p:txBody>
      </p:sp>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447800"/>
            <a:ext cx="8915400" cy="156199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229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0609" y="4626641"/>
            <a:ext cx="8301038" cy="86308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7" name="6 Conector recto de flecha"/>
          <p:cNvCxnSpPr/>
          <p:nvPr/>
        </p:nvCxnSpPr>
        <p:spPr>
          <a:xfrm flipH="1">
            <a:off x="4521127" y="3200400"/>
            <a:ext cx="1" cy="1130795"/>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74561044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FILTRO PASA-BAJOS</a:t>
            </a:r>
            <a:endParaRPr lang="es-ES" dirty="0"/>
          </a:p>
        </p:txBody>
      </p:sp>
      <p:pic>
        <p:nvPicPr>
          <p:cNvPr id="133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2743200"/>
            <a:ext cx="3781425" cy="11906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31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00800" y="2971799"/>
            <a:ext cx="1914525" cy="9620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2 Rectángulo"/>
          <p:cNvSpPr/>
          <p:nvPr/>
        </p:nvSpPr>
        <p:spPr>
          <a:xfrm>
            <a:off x="381000" y="2590800"/>
            <a:ext cx="3857625" cy="1600200"/>
          </a:xfrm>
          <a:prstGeom prst="rect">
            <a:avLst/>
          </a:prstGeom>
          <a:noFill/>
          <a:ln w="38100">
            <a:solidFill>
              <a:srgbClr val="FF0000"/>
            </a:solidFill>
          </a:ln>
          <a:effectLst>
            <a:outerShdw blurRad="63500" sx="102000" sy="102000" algn="ctr"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lang="es-ES"/>
          </a:p>
        </p:txBody>
      </p:sp>
      <p:cxnSp>
        <p:nvCxnSpPr>
          <p:cNvPr id="8" name="7 Conector recto de flecha"/>
          <p:cNvCxnSpPr/>
          <p:nvPr/>
        </p:nvCxnSpPr>
        <p:spPr>
          <a:xfrm flipH="1">
            <a:off x="4521128" y="3452812"/>
            <a:ext cx="1422472"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10" name="9 Rectángulo"/>
          <p:cNvSpPr/>
          <p:nvPr/>
        </p:nvSpPr>
        <p:spPr>
          <a:xfrm>
            <a:off x="6248400" y="2590801"/>
            <a:ext cx="2130353" cy="1600200"/>
          </a:xfrm>
          <a:prstGeom prst="rect">
            <a:avLst/>
          </a:prstGeom>
          <a:noFill/>
          <a:ln w="38100">
            <a:solidFill>
              <a:srgbClr val="FF0000"/>
            </a:solidFill>
          </a:ln>
          <a:effectLst>
            <a:outerShdw blurRad="63500" sx="102000" sy="102000" algn="ctr"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endParaRPr lang="es-ES"/>
          </a:p>
        </p:txBody>
      </p:sp>
    </p:spTree>
    <p:extLst>
      <p:ext uri="{BB962C8B-B14F-4D97-AF65-F5344CB8AC3E}">
        <p14:creationId xmlns:p14="http://schemas.microsoft.com/office/powerpoint/2010/main" val="422965643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FILTRO PASA-BAJOS</a:t>
            </a:r>
            <a:endParaRPr lang="es-ES" dirty="0"/>
          </a:p>
        </p:txBody>
      </p:sp>
      <p:pic>
        <p:nvPicPr>
          <p:cNvPr id="143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9213" y="2900363"/>
            <a:ext cx="6505575" cy="10572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8638095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FILTRO PASA-BAJOS</a:t>
            </a:r>
            <a:endParaRPr lang="es-ES" dirty="0"/>
          </a:p>
        </p:txBody>
      </p:sp>
      <p:sp>
        <p:nvSpPr>
          <p:cNvPr id="4" name="2 Subtítulo"/>
          <p:cNvSpPr txBox="1">
            <a:spLocks/>
          </p:cNvSpPr>
          <p:nvPr/>
        </p:nvSpPr>
        <p:spPr>
          <a:xfrm>
            <a:off x="914400" y="6343650"/>
            <a:ext cx="6858000" cy="533400"/>
          </a:xfrm>
          <a:prstGeom prst="rect">
            <a:avLst/>
          </a:prstGeom>
        </p:spPr>
        <p:txBody>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s-AR" dirty="0" smtClean="0"/>
              <a:t>Diseño 1</a:t>
            </a:r>
            <a:endParaRPr lang="es-ES" dirty="0"/>
          </a:p>
        </p:txBody>
      </p:sp>
      <p:pic>
        <p:nvPicPr>
          <p:cNvPr id="512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336964"/>
            <a:ext cx="4697412" cy="25314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81400" y="3456034"/>
            <a:ext cx="5411787" cy="28018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4825469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FILTRO PASA-BAJOS</a:t>
            </a:r>
            <a:endParaRPr lang="es-ES" dirty="0"/>
          </a:p>
        </p:txBody>
      </p:sp>
      <p:sp>
        <p:nvSpPr>
          <p:cNvPr id="4" name="2 Subtítulo"/>
          <p:cNvSpPr txBox="1">
            <a:spLocks/>
          </p:cNvSpPr>
          <p:nvPr/>
        </p:nvSpPr>
        <p:spPr>
          <a:xfrm>
            <a:off x="914400" y="6343650"/>
            <a:ext cx="6858000" cy="533400"/>
          </a:xfrm>
          <a:prstGeom prst="rect">
            <a:avLst/>
          </a:prstGeom>
        </p:spPr>
        <p:txBody>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s-AR" dirty="0" smtClean="0"/>
              <a:t>Diseño II</a:t>
            </a:r>
            <a:endParaRPr lang="es-ES" dirty="0"/>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295400"/>
            <a:ext cx="4623443" cy="2438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00400" y="3279426"/>
            <a:ext cx="5764213" cy="30642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98010062"/>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FILTRO PASA-BAJOS</a:t>
            </a:r>
            <a:endParaRPr lang="es-ES" dirty="0"/>
          </a:p>
        </p:txBody>
      </p:sp>
      <p:sp>
        <p:nvSpPr>
          <p:cNvPr id="4" name="2 Subtítulo"/>
          <p:cNvSpPr txBox="1">
            <a:spLocks/>
          </p:cNvSpPr>
          <p:nvPr/>
        </p:nvSpPr>
        <p:spPr>
          <a:xfrm>
            <a:off x="914400" y="6343650"/>
            <a:ext cx="6858000" cy="533400"/>
          </a:xfrm>
          <a:prstGeom prst="rect">
            <a:avLst/>
          </a:prstGeom>
        </p:spPr>
        <p:txBody>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s-AR" dirty="0" smtClean="0"/>
              <a:t>Diseño III</a:t>
            </a:r>
            <a:endParaRPr lang="es-ES" dirty="0"/>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371600"/>
            <a:ext cx="4648199" cy="2528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0" y="3561879"/>
            <a:ext cx="5215732" cy="2747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9801006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FILTRO PASA-BAJOS</a:t>
            </a:r>
            <a:endParaRPr lang="es-ES" dirty="0"/>
          </a:p>
        </p:txBody>
      </p:sp>
      <p:sp>
        <p:nvSpPr>
          <p:cNvPr id="4" name="2 Subtítulo"/>
          <p:cNvSpPr txBox="1">
            <a:spLocks/>
          </p:cNvSpPr>
          <p:nvPr/>
        </p:nvSpPr>
        <p:spPr>
          <a:xfrm>
            <a:off x="914400" y="6343650"/>
            <a:ext cx="6858000" cy="533400"/>
          </a:xfrm>
          <a:prstGeom prst="rect">
            <a:avLst/>
          </a:prstGeom>
        </p:spPr>
        <p:txBody>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s-AR" dirty="0" smtClean="0"/>
              <a:t>Diseño IV</a:t>
            </a:r>
            <a:endParaRPr lang="es-ES" dirty="0"/>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3964" y="1350818"/>
            <a:ext cx="4911436" cy="26021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33800" y="3466538"/>
            <a:ext cx="5320145" cy="2828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8654672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FILTROS EN CASCADA</a:t>
            </a:r>
            <a:endParaRPr lang="es-ES" dirty="0"/>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399" y="1524000"/>
            <a:ext cx="8915939" cy="45758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4387698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Implementación del Filtro de Fase Cero en MATLAB</a:t>
            </a:r>
            <a:endParaRPr lang="es-ES" dirty="0"/>
          </a:p>
        </p:txBody>
      </p:sp>
      <p:sp>
        <p:nvSpPr>
          <p:cNvPr id="3" name="2 Marcador de texto"/>
          <p:cNvSpPr>
            <a:spLocks noGrp="1"/>
          </p:cNvSpPr>
          <p:nvPr>
            <p:ph type="body" idx="1"/>
          </p:nvPr>
        </p:nvSpPr>
        <p:spPr/>
        <p:txBody>
          <a:bodyPr>
            <a:normAutofit/>
          </a:bodyPr>
          <a:lstStyle/>
          <a:p>
            <a:r>
              <a:rPr lang="es-AR" dirty="0" smtClean="0"/>
              <a:t>Un filtro de fase cero es un filtro para el cual el cambio de fase es cero para todas las frecuencias. Son filtros anticipatorios, por lo tanto físicamente irrealizables.</a:t>
            </a:r>
            <a:endParaRPr lang="es-ES" dirty="0"/>
          </a:p>
        </p:txBody>
      </p:sp>
      <p:pic>
        <p:nvPicPr>
          <p:cNvPr id="3075" name="Picture 3" descr="C:\Users\gasto\Downloads\descarga.jf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21662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611892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ENTONCES…</a:t>
            </a:r>
            <a:endParaRPr lang="es-ES" dirty="0"/>
          </a:p>
        </p:txBody>
      </p:sp>
      <p:sp>
        <p:nvSpPr>
          <p:cNvPr id="3" name="2 Marcador de texto"/>
          <p:cNvSpPr>
            <a:spLocks noGrp="1"/>
          </p:cNvSpPr>
          <p:nvPr>
            <p:ph type="body" idx="1"/>
          </p:nvPr>
        </p:nvSpPr>
        <p:spPr/>
        <p:txBody>
          <a:bodyPr>
            <a:normAutofit fontScale="92500" lnSpcReduction="10000"/>
          </a:bodyPr>
          <a:lstStyle/>
          <a:p>
            <a:r>
              <a:rPr lang="es-AR" dirty="0" smtClean="0"/>
              <a:t>Los filtrados de fase cero pueden ser aproximados usando un filtro de fase lineal. Un filtro de fase mixta cambia frecuencias de componentes proporcionales a su frecuencia, y luego retrasa el tiempo de referencia.</a:t>
            </a:r>
            <a:endParaRPr lang="es-ES" dirty="0"/>
          </a:p>
        </p:txBody>
      </p:sp>
      <p:pic>
        <p:nvPicPr>
          <p:cNvPr id="3075" name="Picture 3" descr="C:\Users\gasto\Downloads\descarga.jf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21662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80043411"/>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SOLUCIÓN PROPUESTA</a:t>
            </a:r>
            <a:endParaRPr lang="es-ES" dirty="0"/>
          </a:p>
        </p:txBody>
      </p:sp>
      <p:sp>
        <p:nvSpPr>
          <p:cNvPr id="3" name="2 Marcador de texto"/>
          <p:cNvSpPr>
            <a:spLocks noGrp="1"/>
          </p:cNvSpPr>
          <p:nvPr>
            <p:ph type="body" idx="1"/>
          </p:nvPr>
        </p:nvSpPr>
        <p:spPr>
          <a:xfrm>
            <a:off x="876300" y="4267200"/>
            <a:ext cx="7391400" cy="1143000"/>
          </a:xfrm>
        </p:spPr>
        <p:txBody>
          <a:bodyPr>
            <a:normAutofit fontScale="92500"/>
          </a:bodyPr>
          <a:lstStyle/>
          <a:p>
            <a:r>
              <a:rPr lang="es-AR" dirty="0" smtClean="0"/>
              <a:t>Proponemos la realización de un filtro de fase lineal en tiempo diferido, siguiendo las recomendaciones descriptas en el artículo:                            </a:t>
            </a:r>
            <a:r>
              <a:rPr lang="es-AR" i="1" dirty="0" smtClean="0"/>
              <a:t>“S. R. Powell and P. M. Chau – A </a:t>
            </a:r>
            <a:r>
              <a:rPr lang="es-AR" i="1" dirty="0" err="1" smtClean="0"/>
              <a:t>Technique</a:t>
            </a:r>
            <a:r>
              <a:rPr lang="es-AR" i="1" dirty="0" smtClean="0"/>
              <a:t> </a:t>
            </a:r>
            <a:r>
              <a:rPr lang="es-AR" i="1" dirty="0" err="1" smtClean="0"/>
              <a:t>for</a:t>
            </a:r>
            <a:r>
              <a:rPr lang="es-AR" i="1" dirty="0" smtClean="0"/>
              <a:t> </a:t>
            </a:r>
            <a:r>
              <a:rPr lang="es-AR" i="1" dirty="0" err="1" smtClean="0"/>
              <a:t>Realizing</a:t>
            </a:r>
            <a:r>
              <a:rPr lang="es-AR" i="1" dirty="0" smtClean="0"/>
              <a:t> Linear </a:t>
            </a:r>
            <a:r>
              <a:rPr lang="es-AR" i="1" dirty="0" err="1" smtClean="0"/>
              <a:t>Phase</a:t>
            </a:r>
            <a:r>
              <a:rPr lang="es-AR" i="1" dirty="0" smtClean="0"/>
              <a:t> IIR </a:t>
            </a:r>
            <a:r>
              <a:rPr lang="es-AR" i="1" dirty="0" err="1" smtClean="0"/>
              <a:t>Filters</a:t>
            </a:r>
            <a:r>
              <a:rPr lang="es-AR" i="1" dirty="0" smtClean="0"/>
              <a:t>”</a:t>
            </a:r>
            <a:endParaRPr lang="es-ES" i="1" dirty="0"/>
          </a:p>
        </p:txBody>
      </p:sp>
      <p:pic>
        <p:nvPicPr>
          <p:cNvPr id="3075" name="Picture 3" descr="C:\Users\gasto\Downloads\descarga.jf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21662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71182845"/>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p:txBody>
          <a:bodyPr/>
          <a:lstStyle/>
          <a:p>
            <a:r>
              <a:rPr lang="es-AR" dirty="0" smtClean="0"/>
              <a:t>Filtro de Fase Cero</a:t>
            </a:r>
            <a:endParaRPr lang="es-ES" dirty="0"/>
          </a:p>
        </p:txBody>
      </p:sp>
      <p:sp>
        <p:nvSpPr>
          <p:cNvPr id="3" name="2 Subtítulo"/>
          <p:cNvSpPr>
            <a:spLocks noGrp="1"/>
          </p:cNvSpPr>
          <p:nvPr>
            <p:ph type="subTitle" idx="1"/>
          </p:nvPr>
        </p:nvSpPr>
        <p:spPr/>
        <p:txBody>
          <a:bodyPr/>
          <a:lstStyle/>
          <a:p>
            <a:r>
              <a:rPr lang="es-AR" dirty="0" smtClean="0"/>
              <a:t>Diagramas conceptuales</a:t>
            </a:r>
            <a:endParaRPr lang="es-ES" dirty="0"/>
          </a:p>
        </p:txBody>
      </p:sp>
      <p:pic>
        <p:nvPicPr>
          <p:cNvPr id="1843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66635" y="108239"/>
            <a:ext cx="6219825" cy="12287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8" name="7 Conector recto de flecha"/>
          <p:cNvCxnSpPr/>
          <p:nvPr/>
        </p:nvCxnSpPr>
        <p:spPr>
          <a:xfrm flipH="1">
            <a:off x="4594950" y="1188027"/>
            <a:ext cx="1" cy="68580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pic>
        <p:nvPicPr>
          <p:cNvPr id="1024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5716" y="2057400"/>
            <a:ext cx="8221663" cy="1428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94221097"/>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FILTRO DE FASE LINEAL</a:t>
            </a:r>
            <a:endParaRPr lang="es-ES" dirty="0"/>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6498" y="3165557"/>
            <a:ext cx="8221663" cy="1428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26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05400" y="1367794"/>
            <a:ext cx="3409950" cy="1797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26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 y="4495800"/>
            <a:ext cx="3505200" cy="18426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5" name="4 Conector recto de flecha"/>
          <p:cNvCxnSpPr/>
          <p:nvPr/>
        </p:nvCxnSpPr>
        <p:spPr>
          <a:xfrm flipH="1">
            <a:off x="914400" y="2133600"/>
            <a:ext cx="4038600" cy="129540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1" name="10 Conector recto de flecha"/>
          <p:cNvCxnSpPr/>
          <p:nvPr/>
        </p:nvCxnSpPr>
        <p:spPr>
          <a:xfrm flipH="1">
            <a:off x="4343400" y="4343400"/>
            <a:ext cx="4038600" cy="129540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759280674"/>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FILTRO DE FASE LINEAL</a:t>
            </a:r>
            <a:endParaRPr lang="es-ES" dirty="0"/>
          </a:p>
        </p:txBody>
      </p:sp>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4213" y="1295400"/>
            <a:ext cx="7773987" cy="4752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29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133600"/>
            <a:ext cx="3124200" cy="16573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42797756"/>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FILTRO DE FASE LINEAL</a:t>
            </a:r>
            <a:endParaRPr lang="es-ES" dirty="0"/>
          </a:p>
        </p:txBody>
      </p:sp>
      <p:sp>
        <p:nvSpPr>
          <p:cNvPr id="5" name="2 Subtítulo"/>
          <p:cNvSpPr txBox="1">
            <a:spLocks/>
          </p:cNvSpPr>
          <p:nvPr/>
        </p:nvSpPr>
        <p:spPr>
          <a:xfrm>
            <a:off x="914400" y="6343650"/>
            <a:ext cx="6858000" cy="533400"/>
          </a:xfrm>
          <a:prstGeom prst="rect">
            <a:avLst/>
          </a:prstGeom>
        </p:spPr>
        <p:txBody>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s-AR" dirty="0" smtClean="0"/>
              <a:t>Funcionamiento: Estado inicial</a:t>
            </a:r>
            <a:endParaRPr lang="es-ES" dirty="0"/>
          </a:p>
        </p:txBody>
      </p:sp>
      <p:pic>
        <p:nvPicPr>
          <p:cNvPr id="133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1239242"/>
            <a:ext cx="7924800" cy="50045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06005939"/>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FILTRO DE FASE LINEAL</a:t>
            </a:r>
            <a:endParaRPr lang="es-ES" dirty="0"/>
          </a:p>
        </p:txBody>
      </p:sp>
      <p:pic>
        <p:nvPicPr>
          <p:cNvPr id="143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1300594"/>
            <a:ext cx="7848600" cy="49208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2 Subtítulo"/>
          <p:cNvSpPr txBox="1">
            <a:spLocks/>
          </p:cNvSpPr>
          <p:nvPr/>
        </p:nvSpPr>
        <p:spPr>
          <a:xfrm>
            <a:off x="914400" y="6343650"/>
            <a:ext cx="6858000" cy="533400"/>
          </a:xfrm>
          <a:prstGeom prst="rect">
            <a:avLst/>
          </a:prstGeom>
        </p:spPr>
        <p:txBody>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s-AR" dirty="0" smtClean="0"/>
              <a:t>Funcionamiento: Desplazamiento de muestras</a:t>
            </a:r>
            <a:endParaRPr lang="es-ES" dirty="0"/>
          </a:p>
        </p:txBody>
      </p:sp>
    </p:spTree>
    <p:extLst>
      <p:ext uri="{BB962C8B-B14F-4D97-AF65-F5344CB8AC3E}">
        <p14:creationId xmlns:p14="http://schemas.microsoft.com/office/powerpoint/2010/main" val="3906005939"/>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FILTRO DE FASE LINEAL</a:t>
            </a:r>
            <a:endParaRPr lang="es-ES" dirty="0"/>
          </a:p>
        </p:txBody>
      </p:sp>
      <p:sp>
        <p:nvSpPr>
          <p:cNvPr id="4" name="2 Subtítulo"/>
          <p:cNvSpPr txBox="1">
            <a:spLocks/>
          </p:cNvSpPr>
          <p:nvPr/>
        </p:nvSpPr>
        <p:spPr>
          <a:xfrm>
            <a:off x="914400" y="6343650"/>
            <a:ext cx="8077200" cy="533400"/>
          </a:xfrm>
          <a:prstGeom prst="rect">
            <a:avLst/>
          </a:prstGeom>
        </p:spPr>
        <p:txBody>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s-AR" dirty="0" smtClean="0"/>
              <a:t>Funcionamiento: Ciclo de operación de los filtros</a:t>
            </a:r>
            <a:endParaRPr lang="es-ES" dirty="0"/>
          </a:p>
        </p:txBody>
      </p:sp>
      <p:pic>
        <p:nvPicPr>
          <p:cNvPr id="153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1219201"/>
            <a:ext cx="8001000" cy="50354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71983821"/>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FILTRO DE FASE LINEAL</a:t>
            </a:r>
            <a:endParaRPr lang="es-ES" dirty="0"/>
          </a:p>
        </p:txBody>
      </p:sp>
      <p:sp>
        <p:nvSpPr>
          <p:cNvPr id="4" name="2 Subtítulo"/>
          <p:cNvSpPr txBox="1">
            <a:spLocks/>
          </p:cNvSpPr>
          <p:nvPr/>
        </p:nvSpPr>
        <p:spPr>
          <a:xfrm>
            <a:off x="914400" y="6343650"/>
            <a:ext cx="8077200" cy="533400"/>
          </a:xfrm>
          <a:prstGeom prst="rect">
            <a:avLst/>
          </a:prstGeom>
        </p:spPr>
        <p:txBody>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s-AR" dirty="0" smtClean="0"/>
              <a:t>Funcionamiento: Reescritura de buffers LIFO</a:t>
            </a:r>
            <a:endParaRPr lang="es-ES" dirty="0"/>
          </a:p>
        </p:txBody>
      </p:sp>
      <p:pic>
        <p:nvPicPr>
          <p:cNvPr id="163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1295399"/>
            <a:ext cx="8001000" cy="49535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71983821"/>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FILTRO DE FASE LINEAL</a:t>
            </a:r>
            <a:endParaRPr lang="es-ES" dirty="0"/>
          </a:p>
        </p:txBody>
      </p:sp>
      <p:sp>
        <p:nvSpPr>
          <p:cNvPr id="4" name="2 Subtítulo"/>
          <p:cNvSpPr txBox="1">
            <a:spLocks/>
          </p:cNvSpPr>
          <p:nvPr/>
        </p:nvSpPr>
        <p:spPr>
          <a:xfrm>
            <a:off x="914400" y="6343650"/>
            <a:ext cx="8077200" cy="533400"/>
          </a:xfrm>
          <a:prstGeom prst="rect">
            <a:avLst/>
          </a:prstGeom>
        </p:spPr>
        <p:txBody>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s-AR" dirty="0" smtClean="0"/>
              <a:t>Funcionamiento: 2º Ciclo de procesamiento</a:t>
            </a:r>
            <a:endParaRPr lang="es-ES" dirty="0"/>
          </a:p>
        </p:txBody>
      </p:sp>
      <p:pic>
        <p:nvPicPr>
          <p:cNvPr id="174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1346489"/>
            <a:ext cx="8001000" cy="4913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71983821"/>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FILTRO DE FASE LINEAL</a:t>
            </a:r>
            <a:endParaRPr lang="es-ES" dirty="0"/>
          </a:p>
        </p:txBody>
      </p:sp>
      <p:sp>
        <p:nvSpPr>
          <p:cNvPr id="5" name="2 Subtítulo"/>
          <p:cNvSpPr txBox="1">
            <a:spLocks/>
          </p:cNvSpPr>
          <p:nvPr/>
        </p:nvSpPr>
        <p:spPr>
          <a:xfrm>
            <a:off x="914400" y="6343650"/>
            <a:ext cx="8077200" cy="533400"/>
          </a:xfrm>
          <a:prstGeom prst="rect">
            <a:avLst/>
          </a:prstGeom>
        </p:spPr>
        <p:txBody>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s-AR" dirty="0" smtClean="0"/>
              <a:t>Funcionamiento: Buffer FIFO (Parte 1)</a:t>
            </a:r>
            <a:endParaRPr lang="es-ES" dirty="0"/>
          </a:p>
        </p:txBody>
      </p:sp>
      <p:pic>
        <p:nvPicPr>
          <p:cNvPr id="1843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1371600"/>
            <a:ext cx="7848600" cy="4927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97656526"/>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FILTRO DE FASE LINEAL</a:t>
            </a:r>
            <a:endParaRPr lang="es-ES" dirty="0"/>
          </a:p>
        </p:txBody>
      </p:sp>
      <p:sp>
        <p:nvSpPr>
          <p:cNvPr id="4" name="2 Subtítulo"/>
          <p:cNvSpPr txBox="1">
            <a:spLocks/>
          </p:cNvSpPr>
          <p:nvPr/>
        </p:nvSpPr>
        <p:spPr>
          <a:xfrm>
            <a:off x="914400" y="6343650"/>
            <a:ext cx="8077200" cy="533400"/>
          </a:xfrm>
          <a:prstGeom prst="rect">
            <a:avLst/>
          </a:prstGeom>
        </p:spPr>
        <p:txBody>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s-AR" dirty="0" smtClean="0"/>
              <a:t>Funcionamiento: Buffer FIFO (Parte II)</a:t>
            </a:r>
            <a:endParaRPr lang="es-ES" dirty="0"/>
          </a:p>
        </p:txBody>
      </p:sp>
      <p:pic>
        <p:nvPicPr>
          <p:cNvPr id="1945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1219200"/>
            <a:ext cx="8001000" cy="5043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97656526"/>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FILTRO DE FASE LINEAL</a:t>
            </a:r>
            <a:endParaRPr lang="es-ES" dirty="0"/>
          </a:p>
        </p:txBody>
      </p:sp>
      <p:sp>
        <p:nvSpPr>
          <p:cNvPr id="4" name="2 Subtítulo"/>
          <p:cNvSpPr txBox="1">
            <a:spLocks/>
          </p:cNvSpPr>
          <p:nvPr/>
        </p:nvSpPr>
        <p:spPr>
          <a:xfrm>
            <a:off x="914400" y="6343650"/>
            <a:ext cx="8077200" cy="533400"/>
          </a:xfrm>
          <a:prstGeom prst="rect">
            <a:avLst/>
          </a:prstGeom>
        </p:spPr>
        <p:txBody>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s-AR" dirty="0" smtClean="0"/>
              <a:t>Funcionamiento: Salida en régimen permanente</a:t>
            </a:r>
            <a:endParaRPr lang="es-ES" dirty="0"/>
          </a:p>
        </p:txBody>
      </p:sp>
      <p:pic>
        <p:nvPicPr>
          <p:cNvPr id="2048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1295400"/>
            <a:ext cx="8001000" cy="499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64844057"/>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FILTRO DE FASE LINEAL</a:t>
            </a:r>
            <a:endParaRPr lang="es-ES" dirty="0"/>
          </a:p>
        </p:txBody>
      </p:sp>
      <p:sp>
        <p:nvSpPr>
          <p:cNvPr id="4" name="2 Subtítulo"/>
          <p:cNvSpPr txBox="1">
            <a:spLocks/>
          </p:cNvSpPr>
          <p:nvPr/>
        </p:nvSpPr>
        <p:spPr>
          <a:xfrm>
            <a:off x="914400" y="6343650"/>
            <a:ext cx="8077200" cy="533400"/>
          </a:xfrm>
          <a:prstGeom prst="rect">
            <a:avLst/>
          </a:prstGeom>
        </p:spPr>
        <p:txBody>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s-AR" dirty="0" smtClean="0"/>
              <a:t>Señal de salida del Filtro de Fase Cero</a:t>
            </a:r>
            <a:endParaRPr lang="es-ES" dirty="0"/>
          </a:p>
        </p:txBody>
      </p:sp>
      <p:pic>
        <p:nvPicPr>
          <p:cNvPr id="2150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7038" y="1276350"/>
            <a:ext cx="8288337" cy="430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5" name="4 Conector recto"/>
          <p:cNvCxnSpPr/>
          <p:nvPr/>
        </p:nvCxnSpPr>
        <p:spPr>
          <a:xfrm flipV="1">
            <a:off x="3276600" y="1600200"/>
            <a:ext cx="0" cy="4572000"/>
          </a:xfrm>
          <a:prstGeom prst="line">
            <a:avLst/>
          </a:prstGeom>
          <a:ln w="28575">
            <a:solidFill>
              <a:srgbClr val="FF0000"/>
            </a:solidFill>
            <a:prstDash val="dash"/>
          </a:ln>
        </p:spPr>
        <p:style>
          <a:lnRef idx="1">
            <a:schemeClr val="dk1"/>
          </a:lnRef>
          <a:fillRef idx="0">
            <a:schemeClr val="dk1"/>
          </a:fillRef>
          <a:effectRef idx="0">
            <a:schemeClr val="dk1"/>
          </a:effectRef>
          <a:fontRef idx="minor">
            <a:schemeClr val="tx1"/>
          </a:fontRef>
        </p:style>
      </p:cxnSp>
      <p:cxnSp>
        <p:nvCxnSpPr>
          <p:cNvPr id="9" name="8 Conector recto"/>
          <p:cNvCxnSpPr/>
          <p:nvPr/>
        </p:nvCxnSpPr>
        <p:spPr>
          <a:xfrm flipV="1">
            <a:off x="4038600" y="1600200"/>
            <a:ext cx="0" cy="3981450"/>
          </a:xfrm>
          <a:prstGeom prst="line">
            <a:avLst/>
          </a:prstGeom>
          <a:ln w="28575">
            <a:solidFill>
              <a:srgbClr val="FF0000"/>
            </a:solidFill>
            <a:prstDash val="dash"/>
          </a:ln>
        </p:spPr>
        <p:style>
          <a:lnRef idx="1">
            <a:schemeClr val="dk1"/>
          </a:lnRef>
          <a:fillRef idx="0">
            <a:schemeClr val="dk1"/>
          </a:fillRef>
          <a:effectRef idx="0">
            <a:schemeClr val="dk1"/>
          </a:effectRef>
          <a:fontRef idx="minor">
            <a:schemeClr val="tx1"/>
          </a:fontRef>
        </p:style>
      </p:cxnSp>
      <p:cxnSp>
        <p:nvCxnSpPr>
          <p:cNvPr id="10" name="9 Conector recto"/>
          <p:cNvCxnSpPr/>
          <p:nvPr/>
        </p:nvCxnSpPr>
        <p:spPr>
          <a:xfrm flipV="1">
            <a:off x="8305800" y="1600200"/>
            <a:ext cx="0" cy="4572000"/>
          </a:xfrm>
          <a:prstGeom prst="line">
            <a:avLst/>
          </a:prstGeom>
          <a:ln w="28575">
            <a:solidFill>
              <a:srgbClr val="FF0000"/>
            </a:solidFill>
            <a:prstDash val="dash"/>
          </a:ln>
        </p:spPr>
        <p:style>
          <a:lnRef idx="1">
            <a:schemeClr val="dk1"/>
          </a:lnRef>
          <a:fillRef idx="0">
            <a:schemeClr val="dk1"/>
          </a:fillRef>
          <a:effectRef idx="0">
            <a:schemeClr val="dk1"/>
          </a:effectRef>
          <a:fontRef idx="minor">
            <a:schemeClr val="tx1"/>
          </a:fontRef>
        </p:style>
      </p:cxnSp>
      <p:sp>
        <p:nvSpPr>
          <p:cNvPr id="11" name="2 Subtítulo"/>
          <p:cNvSpPr txBox="1">
            <a:spLocks/>
          </p:cNvSpPr>
          <p:nvPr/>
        </p:nvSpPr>
        <p:spPr>
          <a:xfrm>
            <a:off x="1447800" y="5581650"/>
            <a:ext cx="2057400" cy="533400"/>
          </a:xfrm>
          <a:prstGeom prst="rect">
            <a:avLst/>
          </a:prstGeom>
        </p:spPr>
        <p:txBody>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s-AR" sz="2000" dirty="0" smtClean="0">
                <a:solidFill>
                  <a:srgbClr val="FF0000"/>
                </a:solidFill>
              </a:rPr>
              <a:t>Salida nula</a:t>
            </a:r>
            <a:endParaRPr lang="es-ES" sz="2000" dirty="0">
              <a:solidFill>
                <a:srgbClr val="FF0000"/>
              </a:solidFill>
            </a:endParaRPr>
          </a:p>
        </p:txBody>
      </p:sp>
      <p:sp>
        <p:nvSpPr>
          <p:cNvPr id="12" name="2 Subtítulo"/>
          <p:cNvSpPr txBox="1">
            <a:spLocks/>
          </p:cNvSpPr>
          <p:nvPr/>
        </p:nvSpPr>
        <p:spPr>
          <a:xfrm>
            <a:off x="3314700" y="5715000"/>
            <a:ext cx="2057400" cy="533400"/>
          </a:xfrm>
          <a:prstGeom prst="rect">
            <a:avLst/>
          </a:prstGeom>
        </p:spPr>
        <p:txBody>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s-AR" sz="2000" dirty="0" smtClean="0">
                <a:solidFill>
                  <a:srgbClr val="FF0000"/>
                </a:solidFill>
              </a:rPr>
              <a:t>Transitorio</a:t>
            </a:r>
            <a:endParaRPr lang="es-ES" sz="2000" dirty="0">
              <a:solidFill>
                <a:srgbClr val="FF0000"/>
              </a:solidFill>
            </a:endParaRPr>
          </a:p>
        </p:txBody>
      </p:sp>
      <p:cxnSp>
        <p:nvCxnSpPr>
          <p:cNvPr id="13" name="12 Conector recto de flecha"/>
          <p:cNvCxnSpPr/>
          <p:nvPr/>
        </p:nvCxnSpPr>
        <p:spPr>
          <a:xfrm>
            <a:off x="3505200" y="4648200"/>
            <a:ext cx="381000" cy="1066800"/>
          </a:xfrm>
          <a:prstGeom prst="straightConnector1">
            <a:avLst/>
          </a:prstGeom>
          <a:ln>
            <a:solidFill>
              <a:srgbClr val="FF0000"/>
            </a:solidFill>
            <a:tailEnd type="arrow"/>
          </a:ln>
        </p:spPr>
        <p:style>
          <a:lnRef idx="1">
            <a:schemeClr val="dk1"/>
          </a:lnRef>
          <a:fillRef idx="0">
            <a:schemeClr val="dk1"/>
          </a:fillRef>
          <a:effectRef idx="0">
            <a:schemeClr val="dk1"/>
          </a:effectRef>
          <a:fontRef idx="minor">
            <a:schemeClr val="tx1"/>
          </a:fontRef>
        </p:style>
      </p:cxnSp>
      <p:sp>
        <p:nvSpPr>
          <p:cNvPr id="17" name="2 Subtítulo"/>
          <p:cNvSpPr txBox="1">
            <a:spLocks/>
          </p:cNvSpPr>
          <p:nvPr/>
        </p:nvSpPr>
        <p:spPr>
          <a:xfrm>
            <a:off x="5638800" y="5629275"/>
            <a:ext cx="2057400" cy="533400"/>
          </a:xfrm>
          <a:prstGeom prst="rect">
            <a:avLst/>
          </a:prstGeom>
        </p:spPr>
        <p:txBody>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s-AR" sz="2000" dirty="0" smtClean="0">
                <a:solidFill>
                  <a:srgbClr val="FF0000"/>
                </a:solidFill>
              </a:rPr>
              <a:t>Régimen permanente</a:t>
            </a:r>
            <a:endParaRPr lang="es-ES" sz="2000" dirty="0">
              <a:solidFill>
                <a:srgbClr val="FF0000"/>
              </a:solidFill>
            </a:endParaRPr>
          </a:p>
        </p:txBody>
      </p:sp>
      <p:cxnSp>
        <p:nvCxnSpPr>
          <p:cNvPr id="18" name="17 Conector recto de flecha"/>
          <p:cNvCxnSpPr/>
          <p:nvPr/>
        </p:nvCxnSpPr>
        <p:spPr>
          <a:xfrm>
            <a:off x="5448300" y="4648200"/>
            <a:ext cx="381000" cy="1066800"/>
          </a:xfrm>
          <a:prstGeom prst="straightConnector1">
            <a:avLst/>
          </a:prstGeom>
          <a:ln>
            <a:solidFill>
              <a:srgbClr val="FF0000"/>
            </a:solidFill>
            <a:tailEnd type="arrow"/>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264844057"/>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Señales procesadas por               el filtro diseñado</a:t>
            </a:r>
            <a:endParaRPr lang="es-ES" dirty="0"/>
          </a:p>
        </p:txBody>
      </p:sp>
      <p:sp>
        <p:nvSpPr>
          <p:cNvPr id="3" name="2 Marcador de texto"/>
          <p:cNvSpPr>
            <a:spLocks noGrp="1"/>
          </p:cNvSpPr>
          <p:nvPr>
            <p:ph type="body" idx="1"/>
          </p:nvPr>
        </p:nvSpPr>
        <p:spPr/>
        <p:txBody>
          <a:bodyPr>
            <a:normAutofit/>
          </a:bodyPr>
          <a:lstStyle/>
          <a:p>
            <a:r>
              <a:rPr lang="es-AR" dirty="0" smtClean="0"/>
              <a:t>A continuación se exponen los resultados obtenidos tras procesar las señales ECG facilitadas por la cátedra con nuestro filtro de fase lineal.</a:t>
            </a:r>
            <a:endParaRPr lang="es-ES" dirty="0"/>
          </a:p>
        </p:txBody>
      </p:sp>
      <p:pic>
        <p:nvPicPr>
          <p:cNvPr id="3075" name="Picture 3" descr="C:\Users\gasto\Downloads\descarga.jf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21662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49786312"/>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Señal ECG 1a.m</a:t>
            </a:r>
            <a:endParaRPr lang="es-ES" dirty="0"/>
          </a:p>
        </p:txBody>
      </p:sp>
      <p:pic>
        <p:nvPicPr>
          <p:cNvPr id="2253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114" y="1447800"/>
            <a:ext cx="8598908" cy="449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2 Subtítulo"/>
          <p:cNvSpPr txBox="1">
            <a:spLocks/>
          </p:cNvSpPr>
          <p:nvPr/>
        </p:nvSpPr>
        <p:spPr>
          <a:xfrm>
            <a:off x="914400" y="6343650"/>
            <a:ext cx="8077200" cy="533400"/>
          </a:xfrm>
          <a:prstGeom prst="rect">
            <a:avLst/>
          </a:prstGeom>
        </p:spPr>
        <p:txBody>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s-AR" dirty="0" smtClean="0"/>
              <a:t>Señal de entrada (original) </a:t>
            </a:r>
            <a:endParaRPr lang="es-ES" dirty="0"/>
          </a:p>
        </p:txBody>
      </p:sp>
    </p:spTree>
    <p:extLst>
      <p:ext uri="{BB962C8B-B14F-4D97-AF65-F5344CB8AC3E}">
        <p14:creationId xmlns:p14="http://schemas.microsoft.com/office/powerpoint/2010/main" val="3811059646"/>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Señal ECG 1a.m</a:t>
            </a:r>
            <a:endParaRPr lang="es-ES" dirty="0"/>
          </a:p>
        </p:txBody>
      </p:sp>
      <p:pic>
        <p:nvPicPr>
          <p:cNvPr id="2355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600200"/>
            <a:ext cx="8546696" cy="441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2 Subtítulo"/>
          <p:cNvSpPr txBox="1">
            <a:spLocks/>
          </p:cNvSpPr>
          <p:nvPr/>
        </p:nvSpPr>
        <p:spPr>
          <a:xfrm>
            <a:off x="914400" y="6343650"/>
            <a:ext cx="8077200" cy="533400"/>
          </a:xfrm>
          <a:prstGeom prst="rect">
            <a:avLst/>
          </a:prstGeom>
        </p:spPr>
        <p:txBody>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s-AR" dirty="0" smtClean="0"/>
              <a:t>Señal de salida (filtrada) </a:t>
            </a:r>
            <a:endParaRPr lang="es-ES" dirty="0"/>
          </a:p>
        </p:txBody>
      </p:sp>
    </p:spTree>
    <p:extLst>
      <p:ext uri="{BB962C8B-B14F-4D97-AF65-F5344CB8AC3E}">
        <p14:creationId xmlns:p14="http://schemas.microsoft.com/office/powerpoint/2010/main" val="1950636050"/>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Señal ECG 1a.m</a:t>
            </a:r>
            <a:endParaRPr lang="es-ES" dirty="0"/>
          </a:p>
        </p:txBody>
      </p:sp>
      <p:sp>
        <p:nvSpPr>
          <p:cNvPr id="4" name="2 Subtítulo"/>
          <p:cNvSpPr txBox="1">
            <a:spLocks/>
          </p:cNvSpPr>
          <p:nvPr/>
        </p:nvSpPr>
        <p:spPr>
          <a:xfrm>
            <a:off x="914400" y="6343650"/>
            <a:ext cx="8077200" cy="533400"/>
          </a:xfrm>
          <a:prstGeom prst="rect">
            <a:avLst/>
          </a:prstGeom>
        </p:spPr>
        <p:txBody>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s-AR" dirty="0" smtClean="0"/>
              <a:t>Señal de entrada (original) </a:t>
            </a:r>
            <a:endParaRPr lang="es-ES" dirty="0"/>
          </a:p>
        </p:txBody>
      </p:sp>
      <p:pic>
        <p:nvPicPr>
          <p:cNvPr id="286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686" y="1752600"/>
            <a:ext cx="8962571" cy="2477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2 Subtítulo"/>
          <p:cNvSpPr txBox="1">
            <a:spLocks/>
          </p:cNvSpPr>
          <p:nvPr/>
        </p:nvSpPr>
        <p:spPr>
          <a:xfrm>
            <a:off x="504371" y="4495800"/>
            <a:ext cx="8077200" cy="533400"/>
          </a:xfrm>
          <a:prstGeom prst="rect">
            <a:avLst/>
          </a:prstGeom>
        </p:spPr>
        <p:txBody>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lgn="ctr">
              <a:buNone/>
            </a:pPr>
            <a:r>
              <a:rPr lang="es-AR" dirty="0" smtClean="0">
                <a:solidFill>
                  <a:srgbClr val="FF0000"/>
                </a:solidFill>
              </a:rPr>
              <a:t>Señal ECG + Comp. de 50 Hz + Ruido</a:t>
            </a:r>
            <a:endParaRPr lang="es-ES" dirty="0">
              <a:solidFill>
                <a:srgbClr val="FF0000"/>
              </a:solidFill>
            </a:endParaRPr>
          </a:p>
        </p:txBody>
      </p:sp>
    </p:spTree>
    <p:extLst>
      <p:ext uri="{BB962C8B-B14F-4D97-AF65-F5344CB8AC3E}">
        <p14:creationId xmlns:p14="http://schemas.microsoft.com/office/powerpoint/2010/main" val="1950636050"/>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Señal ECG 1a.m</a:t>
            </a:r>
            <a:endParaRPr lang="es-ES" dirty="0"/>
          </a:p>
        </p:txBody>
      </p:sp>
      <p:sp>
        <p:nvSpPr>
          <p:cNvPr id="4" name="2 Subtítulo"/>
          <p:cNvSpPr txBox="1">
            <a:spLocks/>
          </p:cNvSpPr>
          <p:nvPr/>
        </p:nvSpPr>
        <p:spPr>
          <a:xfrm>
            <a:off x="914400" y="6343650"/>
            <a:ext cx="8077200" cy="533400"/>
          </a:xfrm>
          <a:prstGeom prst="rect">
            <a:avLst/>
          </a:prstGeom>
        </p:spPr>
        <p:txBody>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s-AR" dirty="0" smtClean="0"/>
              <a:t>Señal de salida (filtrada) </a:t>
            </a:r>
            <a:endParaRPr lang="es-ES" dirty="0"/>
          </a:p>
        </p:txBody>
      </p:sp>
      <p:pic>
        <p:nvPicPr>
          <p:cNvPr id="317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330223"/>
            <a:ext cx="9084468" cy="2506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79624254"/>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Señal ECG 2a.m</a:t>
            </a:r>
            <a:endParaRPr lang="es-ES" dirty="0"/>
          </a:p>
        </p:txBody>
      </p:sp>
      <p:pic>
        <p:nvPicPr>
          <p:cNvPr id="2457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447800"/>
            <a:ext cx="8496508" cy="457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2 Subtítulo"/>
          <p:cNvSpPr txBox="1">
            <a:spLocks/>
          </p:cNvSpPr>
          <p:nvPr/>
        </p:nvSpPr>
        <p:spPr>
          <a:xfrm>
            <a:off x="914400" y="6343650"/>
            <a:ext cx="8077200" cy="533400"/>
          </a:xfrm>
          <a:prstGeom prst="rect">
            <a:avLst/>
          </a:prstGeom>
        </p:spPr>
        <p:txBody>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s-AR" dirty="0" smtClean="0"/>
              <a:t>Señal de entrada (original) </a:t>
            </a:r>
            <a:endParaRPr lang="es-ES" dirty="0"/>
          </a:p>
        </p:txBody>
      </p:sp>
    </p:spTree>
    <p:extLst>
      <p:ext uri="{BB962C8B-B14F-4D97-AF65-F5344CB8AC3E}">
        <p14:creationId xmlns:p14="http://schemas.microsoft.com/office/powerpoint/2010/main" val="1950636050"/>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Señal ECG 2a.m</a:t>
            </a:r>
            <a:endParaRPr lang="es-ES" dirty="0"/>
          </a:p>
        </p:txBody>
      </p:sp>
      <p:sp>
        <p:nvSpPr>
          <p:cNvPr id="4" name="2 Subtítulo"/>
          <p:cNvSpPr txBox="1">
            <a:spLocks/>
          </p:cNvSpPr>
          <p:nvPr/>
        </p:nvSpPr>
        <p:spPr>
          <a:xfrm>
            <a:off x="914400" y="6343650"/>
            <a:ext cx="8077200" cy="533400"/>
          </a:xfrm>
          <a:prstGeom prst="rect">
            <a:avLst/>
          </a:prstGeom>
        </p:spPr>
        <p:txBody>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s-AR" dirty="0" smtClean="0"/>
              <a:t>Señal de salida (filtrada) </a:t>
            </a:r>
            <a:endParaRPr lang="es-ES" dirty="0"/>
          </a:p>
        </p:txBody>
      </p:sp>
      <p:pic>
        <p:nvPicPr>
          <p:cNvPr id="2560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7887" y="1371600"/>
            <a:ext cx="8833713" cy="480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50636050"/>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Señal ECG 2a.m</a:t>
            </a:r>
            <a:endParaRPr lang="es-ES" dirty="0"/>
          </a:p>
        </p:txBody>
      </p:sp>
      <p:sp>
        <p:nvSpPr>
          <p:cNvPr id="4" name="2 Subtítulo"/>
          <p:cNvSpPr txBox="1">
            <a:spLocks/>
          </p:cNvSpPr>
          <p:nvPr/>
        </p:nvSpPr>
        <p:spPr>
          <a:xfrm>
            <a:off x="914400" y="6343650"/>
            <a:ext cx="8077200" cy="533400"/>
          </a:xfrm>
          <a:prstGeom prst="rect">
            <a:avLst/>
          </a:prstGeom>
        </p:spPr>
        <p:txBody>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s-AR" dirty="0" smtClean="0"/>
              <a:t>Señal de entrada (original) </a:t>
            </a:r>
            <a:endParaRPr lang="es-ES" dirty="0"/>
          </a:p>
        </p:txBody>
      </p:sp>
      <p:pic>
        <p:nvPicPr>
          <p:cNvPr id="296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343" y="1676400"/>
            <a:ext cx="9117171" cy="251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2 Subtítulo"/>
          <p:cNvSpPr txBox="1">
            <a:spLocks/>
          </p:cNvSpPr>
          <p:nvPr/>
        </p:nvSpPr>
        <p:spPr>
          <a:xfrm>
            <a:off x="504371" y="4495800"/>
            <a:ext cx="8077200" cy="533400"/>
          </a:xfrm>
          <a:prstGeom prst="rect">
            <a:avLst/>
          </a:prstGeom>
        </p:spPr>
        <p:txBody>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lgn="ctr">
              <a:buNone/>
            </a:pPr>
            <a:r>
              <a:rPr lang="es-AR" dirty="0" smtClean="0">
                <a:solidFill>
                  <a:srgbClr val="FF0000"/>
                </a:solidFill>
              </a:rPr>
              <a:t>Señal ECG + Comp. de 50 Hz + Ruido</a:t>
            </a:r>
            <a:endParaRPr lang="es-ES" dirty="0">
              <a:solidFill>
                <a:srgbClr val="FF0000"/>
              </a:solidFill>
            </a:endParaRPr>
          </a:p>
        </p:txBody>
      </p:sp>
    </p:spTree>
    <p:extLst>
      <p:ext uri="{BB962C8B-B14F-4D97-AF65-F5344CB8AC3E}">
        <p14:creationId xmlns:p14="http://schemas.microsoft.com/office/powerpoint/2010/main" val="1950636050"/>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Señal ECG 2a.m</a:t>
            </a:r>
            <a:endParaRPr lang="es-ES" dirty="0"/>
          </a:p>
        </p:txBody>
      </p:sp>
      <p:sp>
        <p:nvSpPr>
          <p:cNvPr id="4" name="2 Subtítulo"/>
          <p:cNvSpPr txBox="1">
            <a:spLocks/>
          </p:cNvSpPr>
          <p:nvPr/>
        </p:nvSpPr>
        <p:spPr>
          <a:xfrm>
            <a:off x="914400" y="6343650"/>
            <a:ext cx="8077200" cy="533400"/>
          </a:xfrm>
          <a:prstGeom prst="rect">
            <a:avLst/>
          </a:prstGeom>
        </p:spPr>
        <p:txBody>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s-AR" dirty="0" smtClean="0"/>
              <a:t>Señal de salida (filtrada) </a:t>
            </a:r>
            <a:endParaRPr lang="es-ES" dirty="0"/>
          </a:p>
        </p:txBody>
      </p:sp>
      <p:pic>
        <p:nvPicPr>
          <p:cNvPr id="327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1915" y="2182586"/>
            <a:ext cx="8973942" cy="2362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87199682"/>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Señal ECG 3a.m</a:t>
            </a:r>
            <a:endParaRPr lang="es-ES" dirty="0"/>
          </a:p>
        </p:txBody>
      </p:sp>
      <p:sp>
        <p:nvSpPr>
          <p:cNvPr id="4" name="2 Subtítulo"/>
          <p:cNvSpPr txBox="1">
            <a:spLocks/>
          </p:cNvSpPr>
          <p:nvPr/>
        </p:nvSpPr>
        <p:spPr>
          <a:xfrm>
            <a:off x="914400" y="6343650"/>
            <a:ext cx="8077200" cy="533400"/>
          </a:xfrm>
          <a:prstGeom prst="rect">
            <a:avLst/>
          </a:prstGeom>
        </p:spPr>
        <p:txBody>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s-AR" dirty="0" smtClean="0"/>
              <a:t>Señal de entrada (original) </a:t>
            </a:r>
            <a:endParaRPr lang="es-ES" dirty="0"/>
          </a:p>
        </p:txBody>
      </p:sp>
      <p:pic>
        <p:nvPicPr>
          <p:cNvPr id="266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447800"/>
            <a:ext cx="8745550" cy="464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50636050"/>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Señal ECG 3a.m</a:t>
            </a:r>
            <a:endParaRPr lang="es-ES" dirty="0"/>
          </a:p>
        </p:txBody>
      </p:sp>
      <p:sp>
        <p:nvSpPr>
          <p:cNvPr id="4" name="2 Subtítulo"/>
          <p:cNvSpPr txBox="1">
            <a:spLocks/>
          </p:cNvSpPr>
          <p:nvPr/>
        </p:nvSpPr>
        <p:spPr>
          <a:xfrm>
            <a:off x="914400" y="6343650"/>
            <a:ext cx="8077200" cy="533400"/>
          </a:xfrm>
          <a:prstGeom prst="rect">
            <a:avLst/>
          </a:prstGeom>
        </p:spPr>
        <p:txBody>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s-AR" dirty="0" smtClean="0"/>
              <a:t>Señal de salida (filtrada) </a:t>
            </a:r>
            <a:endParaRPr lang="es-ES" dirty="0"/>
          </a:p>
        </p:txBody>
      </p:sp>
      <p:pic>
        <p:nvPicPr>
          <p:cNvPr id="276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871" y="1295400"/>
            <a:ext cx="8725072" cy="472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50636050"/>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Señal ECG 3a.m</a:t>
            </a:r>
            <a:endParaRPr lang="es-ES" dirty="0"/>
          </a:p>
        </p:txBody>
      </p:sp>
      <p:sp>
        <p:nvSpPr>
          <p:cNvPr id="4" name="2 Subtítulo"/>
          <p:cNvSpPr txBox="1">
            <a:spLocks/>
          </p:cNvSpPr>
          <p:nvPr/>
        </p:nvSpPr>
        <p:spPr>
          <a:xfrm>
            <a:off x="914400" y="6343650"/>
            <a:ext cx="8077200" cy="533400"/>
          </a:xfrm>
          <a:prstGeom prst="rect">
            <a:avLst/>
          </a:prstGeom>
        </p:spPr>
        <p:txBody>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s-AR" dirty="0" smtClean="0"/>
              <a:t>Señal de entrada (original) </a:t>
            </a:r>
            <a:endParaRPr lang="es-ES" dirty="0"/>
          </a:p>
        </p:txBody>
      </p:sp>
      <p:pic>
        <p:nvPicPr>
          <p:cNvPr id="307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86" y="1905000"/>
            <a:ext cx="9132780" cy="2362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2 Subtítulo"/>
          <p:cNvSpPr txBox="1">
            <a:spLocks/>
          </p:cNvSpPr>
          <p:nvPr/>
        </p:nvSpPr>
        <p:spPr>
          <a:xfrm>
            <a:off x="504371" y="4495800"/>
            <a:ext cx="8077200" cy="533400"/>
          </a:xfrm>
          <a:prstGeom prst="rect">
            <a:avLst/>
          </a:prstGeom>
        </p:spPr>
        <p:txBody>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pPr marL="0" indent="0" algn="ctr">
              <a:buNone/>
            </a:pPr>
            <a:r>
              <a:rPr lang="es-AR" dirty="0" smtClean="0">
                <a:solidFill>
                  <a:srgbClr val="FF0000"/>
                </a:solidFill>
              </a:rPr>
              <a:t>Señal ECG + Comp. de 50 Hz + Ruido</a:t>
            </a:r>
            <a:endParaRPr lang="es-ES" dirty="0">
              <a:solidFill>
                <a:srgbClr val="FF0000"/>
              </a:solidFill>
            </a:endParaRPr>
          </a:p>
        </p:txBody>
      </p:sp>
    </p:spTree>
    <p:extLst>
      <p:ext uri="{BB962C8B-B14F-4D97-AF65-F5344CB8AC3E}">
        <p14:creationId xmlns:p14="http://schemas.microsoft.com/office/powerpoint/2010/main" val="1950636050"/>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Señal ECG 3a.m</a:t>
            </a:r>
            <a:endParaRPr lang="es-ES" dirty="0"/>
          </a:p>
        </p:txBody>
      </p:sp>
      <p:sp>
        <p:nvSpPr>
          <p:cNvPr id="4" name="2 Subtítulo"/>
          <p:cNvSpPr txBox="1">
            <a:spLocks/>
          </p:cNvSpPr>
          <p:nvPr/>
        </p:nvSpPr>
        <p:spPr>
          <a:xfrm>
            <a:off x="914400" y="6343650"/>
            <a:ext cx="8077200" cy="533400"/>
          </a:xfrm>
          <a:prstGeom prst="rect">
            <a:avLst/>
          </a:prstGeom>
        </p:spPr>
        <p:txBody>
          <a:bodyPr/>
          <a:lst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s-AR" dirty="0" smtClean="0"/>
              <a:t>Señal de salida (filtrada) </a:t>
            </a:r>
            <a:endParaRPr lang="es-ES" dirty="0"/>
          </a:p>
        </p:txBody>
      </p:sp>
      <p:pic>
        <p:nvPicPr>
          <p:cNvPr id="337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550" y="2209800"/>
            <a:ext cx="9074793" cy="259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13430270"/>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COMPARACION DE SEÑALES</a:t>
            </a:r>
            <a:endParaRPr lang="es-ES" dirty="0"/>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510" y="1371599"/>
            <a:ext cx="4417908" cy="2284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29938" y="2435506"/>
            <a:ext cx="4492291" cy="2441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510" y="3810000"/>
            <a:ext cx="4537428" cy="2456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25569934"/>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COMPARACION DE SEÑALES</a:t>
            </a:r>
            <a:endParaRPr lang="es-ES" dirty="0"/>
          </a:p>
        </p:txBody>
      </p:sp>
      <p:pic>
        <p:nvPicPr>
          <p:cNvPr id="3"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1237456"/>
            <a:ext cx="6849842" cy="18900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4600" y="3127522"/>
            <a:ext cx="6816842" cy="17943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89743" y="4880123"/>
            <a:ext cx="6864356" cy="19597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13527614"/>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OBSERVACIONES</a:t>
            </a:r>
            <a:endParaRPr lang="es-ES" dirty="0"/>
          </a:p>
        </p:txBody>
      </p:sp>
      <p:sp>
        <p:nvSpPr>
          <p:cNvPr id="3" name="2 Marcador de texto"/>
          <p:cNvSpPr>
            <a:spLocks noGrp="1"/>
          </p:cNvSpPr>
          <p:nvPr>
            <p:ph type="body" idx="1"/>
          </p:nvPr>
        </p:nvSpPr>
        <p:spPr/>
        <p:txBody>
          <a:bodyPr>
            <a:noAutofit/>
          </a:bodyPr>
          <a:lstStyle/>
          <a:p>
            <a:pPr marL="457200" indent="-457200">
              <a:buFont typeface="Wingdings" panose="05000000000000000000" pitchFamily="2" charset="2"/>
              <a:buChar char="q"/>
            </a:pPr>
            <a:r>
              <a:rPr lang="es-AR" sz="2800" dirty="0" smtClean="0"/>
              <a:t>Cuestiones teóricas (4)</a:t>
            </a:r>
          </a:p>
          <a:p>
            <a:pPr marL="457200" indent="-457200">
              <a:buFont typeface="Wingdings" panose="05000000000000000000" pitchFamily="2" charset="2"/>
              <a:buChar char="q"/>
            </a:pPr>
            <a:endParaRPr lang="es-AR" sz="2800" dirty="0"/>
          </a:p>
          <a:p>
            <a:pPr marL="457200" indent="-457200">
              <a:buFont typeface="Wingdings" panose="05000000000000000000" pitchFamily="2" charset="2"/>
              <a:buChar char="q"/>
            </a:pPr>
            <a:r>
              <a:rPr lang="es-AR" sz="2800" dirty="0" smtClean="0"/>
              <a:t>Sobre MATLAB </a:t>
            </a:r>
            <a:r>
              <a:rPr lang="es-AR" sz="2800" dirty="0" smtClean="0"/>
              <a:t>(6)</a:t>
            </a:r>
            <a:endParaRPr lang="es-ES" sz="2800" dirty="0"/>
          </a:p>
        </p:txBody>
      </p:sp>
      <p:pic>
        <p:nvPicPr>
          <p:cNvPr id="3075" name="Picture 3" descr="C:\Users\gasto\Downloads\descarga.jf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21662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21084357"/>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Señal ECG 1a.m</a:t>
            </a:r>
            <a:endParaRPr lang="es-ES" dirty="0"/>
          </a:p>
        </p:txBody>
      </p:sp>
      <p:pic>
        <p:nvPicPr>
          <p:cNvPr id="348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447800"/>
            <a:ext cx="8368732" cy="449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99194394"/>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Señal ECG 1a.m</a:t>
            </a:r>
            <a:endParaRPr lang="es-ES" dirty="0"/>
          </a:p>
        </p:txBody>
      </p:sp>
      <p:pic>
        <p:nvPicPr>
          <p:cNvPr id="358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447800"/>
            <a:ext cx="8743906" cy="4603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62391058"/>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Señal ECG </a:t>
            </a:r>
            <a:r>
              <a:rPr lang="es-AR" dirty="0" smtClean="0"/>
              <a:t>2a.m</a:t>
            </a:r>
            <a:endParaRPr lang="es-ES" dirty="0"/>
          </a:p>
        </p:txBody>
      </p:sp>
      <p:pic>
        <p:nvPicPr>
          <p:cNvPr id="368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219200"/>
            <a:ext cx="8810671" cy="480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30460980"/>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Señal ECG </a:t>
            </a:r>
            <a:r>
              <a:rPr lang="es-AR" dirty="0" smtClean="0"/>
              <a:t>2a.m</a:t>
            </a:r>
            <a:endParaRPr lang="es-ES" dirty="0"/>
          </a:p>
        </p:txBody>
      </p:sp>
      <p:pic>
        <p:nvPicPr>
          <p:cNvPr id="378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114" y="1447800"/>
            <a:ext cx="8710388" cy="4606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50305815"/>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Señal ECG </a:t>
            </a:r>
            <a:r>
              <a:rPr lang="es-AR" dirty="0" smtClean="0"/>
              <a:t>3a.m</a:t>
            </a:r>
            <a:endParaRPr lang="es-ES" dirty="0"/>
          </a:p>
        </p:txBody>
      </p:sp>
      <p:pic>
        <p:nvPicPr>
          <p:cNvPr id="389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524000"/>
            <a:ext cx="8793945" cy="464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09023422"/>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Señal ECG </a:t>
            </a:r>
            <a:r>
              <a:rPr lang="es-AR" dirty="0" smtClean="0"/>
              <a:t>3a.m</a:t>
            </a:r>
            <a:endParaRPr lang="es-ES" dirty="0"/>
          </a:p>
        </p:txBody>
      </p:sp>
      <p:pic>
        <p:nvPicPr>
          <p:cNvPr id="399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304471"/>
            <a:ext cx="8874614" cy="480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38311181"/>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dirty="0" smtClean="0"/>
              <a:t>CONCLUSIONES</a:t>
            </a:r>
            <a:endParaRPr lang="es-ES" dirty="0"/>
          </a:p>
        </p:txBody>
      </p:sp>
      <p:sp>
        <p:nvSpPr>
          <p:cNvPr id="3" name="2 Marcador de texto"/>
          <p:cNvSpPr>
            <a:spLocks noGrp="1"/>
          </p:cNvSpPr>
          <p:nvPr>
            <p:ph type="body" idx="1"/>
          </p:nvPr>
        </p:nvSpPr>
        <p:spPr/>
        <p:txBody>
          <a:bodyPr>
            <a:noAutofit/>
          </a:bodyPr>
          <a:lstStyle/>
          <a:p>
            <a:pPr marL="457200" indent="-457200">
              <a:buFont typeface="Wingdings" panose="05000000000000000000" pitchFamily="2" charset="2"/>
              <a:buChar char="q"/>
            </a:pPr>
            <a:r>
              <a:rPr lang="es-AR" sz="2800" dirty="0" smtClean="0"/>
              <a:t>Específicas de diseño (2)</a:t>
            </a:r>
          </a:p>
          <a:p>
            <a:pPr marL="457200" indent="-457200">
              <a:buFont typeface="Wingdings" panose="05000000000000000000" pitchFamily="2" charset="2"/>
              <a:buChar char="q"/>
            </a:pPr>
            <a:endParaRPr lang="es-AR" sz="2800" dirty="0"/>
          </a:p>
          <a:p>
            <a:pPr marL="457200" indent="-457200">
              <a:buFont typeface="Wingdings" panose="05000000000000000000" pitchFamily="2" charset="2"/>
              <a:buChar char="q"/>
            </a:pPr>
            <a:r>
              <a:rPr lang="es-AR" sz="2800" dirty="0" smtClean="0"/>
              <a:t>Sobre el proyecto en general (3)</a:t>
            </a:r>
            <a:endParaRPr lang="es-ES" sz="2800" dirty="0"/>
          </a:p>
        </p:txBody>
      </p:sp>
      <p:pic>
        <p:nvPicPr>
          <p:cNvPr id="3075" name="Picture 3" descr="C:\Users\gasto\Downloads\descarga.jf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21662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35681810"/>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gasto\Downloads\dsp.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228600"/>
            <a:ext cx="9525000" cy="7086600"/>
          </a:xfrm>
          <a:prstGeom prst="rect">
            <a:avLst/>
          </a:prstGeom>
          <a:noFill/>
          <a:extLst>
            <a:ext uri="{909E8E84-426E-40DD-AFC4-6F175D3DCCD1}">
              <a14:hiddenFill xmlns:a14="http://schemas.microsoft.com/office/drawing/2010/main">
                <a:solidFill>
                  <a:srgbClr val="FFFFFF"/>
                </a:solidFill>
              </a14:hiddenFill>
            </a:ext>
          </a:extLst>
        </p:spPr>
      </p:pic>
      <p:sp>
        <p:nvSpPr>
          <p:cNvPr id="2" name="1 Título"/>
          <p:cNvSpPr>
            <a:spLocks noGrp="1"/>
          </p:cNvSpPr>
          <p:nvPr>
            <p:ph type="ctrTitle"/>
          </p:nvPr>
        </p:nvSpPr>
        <p:spPr>
          <a:xfrm>
            <a:off x="647700" y="2667000"/>
            <a:ext cx="7772400" cy="990600"/>
          </a:xfrm>
          <a:solidFill>
            <a:schemeClr val="accent4">
              <a:lumMod val="75000"/>
            </a:schemeClr>
          </a:solidFill>
          <a:ln w="28575">
            <a:solidFill>
              <a:schemeClr val="tx1"/>
            </a:solidFill>
            <a:prstDash val="sysDash"/>
          </a:ln>
        </p:spPr>
        <p:txBody>
          <a:bodyPr anchor="ctr">
            <a:normAutofit fontScale="90000"/>
          </a:bodyPr>
          <a:lstStyle/>
          <a:p>
            <a:pPr algn="ctr"/>
            <a:r>
              <a:rPr lang="es-AR" b="1" dirty="0" smtClean="0"/>
              <a:t>¡MUCHAS GRACIAS POR SU ATENCIÓN</a:t>
            </a:r>
            <a:r>
              <a:rPr lang="es-AR" dirty="0" smtClean="0"/>
              <a:t>!</a:t>
            </a:r>
            <a:endParaRPr lang="es-ES" dirty="0"/>
          </a:p>
        </p:txBody>
      </p:sp>
      <p:pic>
        <p:nvPicPr>
          <p:cNvPr id="40962" name="Picture 2" descr="C:\Users\gasto\Downloads\Que es esto\WhatsApp Image 2023-04-19 at 00.13.57.jpe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62799" y="4698092"/>
            <a:ext cx="1988457" cy="19884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34347862"/>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en">
  <a:themeElements>
    <a:clrScheme name="Orige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rige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rige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Origin</Template>
  <TotalTime>322</TotalTime>
  <Words>942</Words>
  <Application>Microsoft Office PowerPoint</Application>
  <PresentationFormat>Presentación en pantalla (4:3)</PresentationFormat>
  <Paragraphs>169</Paragraphs>
  <Slides>70</Slides>
  <Notes>0</Notes>
  <HiddenSlides>0</HiddenSlides>
  <MMClips>0</MMClips>
  <ScaleCrop>false</ScaleCrop>
  <HeadingPairs>
    <vt:vector size="4" baseType="variant">
      <vt:variant>
        <vt:lpstr>Tema</vt:lpstr>
      </vt:variant>
      <vt:variant>
        <vt:i4>1</vt:i4>
      </vt:variant>
      <vt:variant>
        <vt:lpstr>Títulos de diapositiva</vt:lpstr>
      </vt:variant>
      <vt:variant>
        <vt:i4>70</vt:i4>
      </vt:variant>
    </vt:vector>
  </HeadingPairs>
  <TitlesOfParts>
    <vt:vector size="71" baseType="lpstr">
      <vt:lpstr>Origen</vt:lpstr>
      <vt:lpstr>Procesamiento Digital de Señales (E7S)</vt:lpstr>
      <vt:lpstr> FILTRO DIGITAL DE FASE CERO</vt:lpstr>
      <vt:lpstr>CONTENIDO</vt:lpstr>
      <vt:lpstr>CASO DE ESTUDIO</vt:lpstr>
      <vt:lpstr>SOLUCION</vt:lpstr>
      <vt:lpstr>ELECTROCARDIÓGRAFO</vt:lpstr>
      <vt:lpstr>ESPECIFICACIONES TÉCNICAS</vt:lpstr>
      <vt:lpstr>OBJETIVOS</vt:lpstr>
      <vt:lpstr>¿Por qué filtro de fase lineal?</vt:lpstr>
      <vt:lpstr>¿Cómo logramos esto?</vt:lpstr>
      <vt:lpstr>MATEMATICAMENTE…</vt:lpstr>
      <vt:lpstr>Diseño del filtro ranura y             filtro pasa-bajos</vt:lpstr>
      <vt:lpstr>MATEMATICAMENTE…</vt:lpstr>
      <vt:lpstr>FILTRO RANURA</vt:lpstr>
      <vt:lpstr>FILTRO RANURA</vt:lpstr>
      <vt:lpstr>FILTRO RANURA</vt:lpstr>
      <vt:lpstr>FILTRO RANURA</vt:lpstr>
      <vt:lpstr>FILTRO RANURA</vt:lpstr>
      <vt:lpstr>FILTRO RANURA</vt:lpstr>
      <vt:lpstr>FILTRO RANURA</vt:lpstr>
      <vt:lpstr>FILTRO RANURA</vt:lpstr>
      <vt:lpstr>FILTRO PASA-BAJOS</vt:lpstr>
      <vt:lpstr>FILTRO PASA-BAJOS</vt:lpstr>
      <vt:lpstr>FILTRO PASA-BAJOS</vt:lpstr>
      <vt:lpstr>FILTRO PASA-BAJOS</vt:lpstr>
      <vt:lpstr>FILTRO PASA-BAJOS</vt:lpstr>
      <vt:lpstr>FILTRO PASA-BAJOS</vt:lpstr>
      <vt:lpstr>FILTRO PASA-BAJOS</vt:lpstr>
      <vt:lpstr>FILTRO PASA-BAJOS</vt:lpstr>
      <vt:lpstr>FILTRO PASA-BAJOS</vt:lpstr>
      <vt:lpstr>FILTROS EN CASCADA</vt:lpstr>
      <vt:lpstr>Implementación del Filtro de Fase Cero en MATLAB</vt:lpstr>
      <vt:lpstr>ENTONCES…</vt:lpstr>
      <vt:lpstr>SOLUCIÓN PROPUESTA</vt:lpstr>
      <vt:lpstr>Filtro de Fase Cero</vt:lpstr>
      <vt:lpstr>FILTRO DE FASE LINEAL</vt:lpstr>
      <vt:lpstr>FILTRO DE FASE LINEAL</vt:lpstr>
      <vt:lpstr>FILTRO DE FASE LINEAL</vt:lpstr>
      <vt:lpstr>FILTRO DE FASE LINEAL</vt:lpstr>
      <vt:lpstr>FILTRO DE FASE LINEAL</vt:lpstr>
      <vt:lpstr>FILTRO DE FASE LINEAL</vt:lpstr>
      <vt:lpstr>FILTRO DE FASE LINEAL</vt:lpstr>
      <vt:lpstr>FILTRO DE FASE LINEAL</vt:lpstr>
      <vt:lpstr>FILTRO DE FASE LINEAL</vt:lpstr>
      <vt:lpstr>FILTRO DE FASE LINEAL</vt:lpstr>
      <vt:lpstr>FILTRO DE FASE LINEAL</vt:lpstr>
      <vt:lpstr>Señales procesadas por               el filtro diseñado</vt:lpstr>
      <vt:lpstr>Señal ECG 1a.m</vt:lpstr>
      <vt:lpstr>Señal ECG 1a.m</vt:lpstr>
      <vt:lpstr>Señal ECG 1a.m</vt:lpstr>
      <vt:lpstr>Señal ECG 1a.m</vt:lpstr>
      <vt:lpstr>Señal ECG 2a.m</vt:lpstr>
      <vt:lpstr>Señal ECG 2a.m</vt:lpstr>
      <vt:lpstr>Señal ECG 2a.m</vt:lpstr>
      <vt:lpstr>Señal ECG 2a.m</vt:lpstr>
      <vt:lpstr>Señal ECG 3a.m</vt:lpstr>
      <vt:lpstr>Señal ECG 3a.m</vt:lpstr>
      <vt:lpstr>Señal ECG 3a.m</vt:lpstr>
      <vt:lpstr>Señal ECG 3a.m</vt:lpstr>
      <vt:lpstr>COMPARACION DE SEÑALES</vt:lpstr>
      <vt:lpstr>COMPARACION DE SEÑALES</vt:lpstr>
      <vt:lpstr>OBSERVACIONES</vt:lpstr>
      <vt:lpstr>Señal ECG 1a.m</vt:lpstr>
      <vt:lpstr>Señal ECG 1a.m</vt:lpstr>
      <vt:lpstr>Señal ECG 2a.m</vt:lpstr>
      <vt:lpstr>Señal ECG 2a.m</vt:lpstr>
      <vt:lpstr>Señal ECG 3a.m</vt:lpstr>
      <vt:lpstr>Señal ECG 3a.m</vt:lpstr>
      <vt:lpstr>CONCLUSIONES</vt:lpstr>
      <vt:lpstr>¡MUCHAS GRACIAS POR SU ATENCIÓN!</vt:lpstr>
    </vt:vector>
  </TitlesOfParts>
  <Company>HP</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Procesamiento Digital de Señales (E7S)</dc:title>
  <dc:creator>Gastón Ance</dc:creator>
  <cp:lastModifiedBy>Gastón Ance</cp:lastModifiedBy>
  <cp:revision>24</cp:revision>
  <dcterms:created xsi:type="dcterms:W3CDTF">2023-01-08T21:42:19Z</dcterms:created>
  <dcterms:modified xsi:type="dcterms:W3CDTF">2023-04-24T03:13:10Z</dcterms:modified>
</cp:coreProperties>
</file>